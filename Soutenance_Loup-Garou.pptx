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96596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6000" b="1" i="0">
                <a:solidFill>
                  <a:srgbClr val="E8B44C"/>
                </a:solidFill>
                <a:latin typeface="Cambria"/>
              </a:rPr>
              <a:t>LOUP-GAROU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2EEE3"/>
                </a:solidFill>
                <a:latin typeface="Calibri"/>
              </a:rPr>
              <a:t>Jeu multijoueur en temps réel — Client JavaFX  ·  API REST PHP  · 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360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2EEE3"/>
                </a:solidFill>
                <a:latin typeface="Calibri"/>
              </a:rPr>
              <a:t>Soutenance — 7 juillet 2026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ABA4C8"/>
                </a:solidFill>
                <a:latin typeface="Calibri"/>
              </a:rPr>
              <a:t>Amaury Guindon  ·  École 89 — Master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E8B44C"/>
                </a:solidFill>
                <a:latin typeface="Cambria"/>
              </a:rPr>
              <a:t>Le jeu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BA4C8"/>
                </a:solidFill>
                <a:latin typeface="Calibri"/>
              </a:rPr>
              <a:t>Le classique du bluff et de la déduction, en client lourd multijoueur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2062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2EEE3"/>
                </a:solidFill>
                <a:latin typeface="Cambria"/>
              </a:rPr>
              <a:t>Le concept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F2EEE3"/>
                </a:solidFill>
                <a:latin typeface="Calibri"/>
              </a:rPr>
              <a:t>Deux camps s'affrontent : les Loups-Garous dévorent la nuit, le Village vote le jour. Dernier camp debout gagne.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2EEE3"/>
                </a:solidFill>
                <a:latin typeface="Cambria"/>
              </a:rPr>
              <a:t>En chiffres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F2EEE3"/>
                </a:solidFill>
                <a:latin typeface="Calibri"/>
              </a:rPr>
              <a:t>•  4 à 10 joueurs par partie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F2EEE3"/>
                </a:solidFill>
                <a:latin typeface="Calibri"/>
              </a:rPr>
              <a:t>•  6 rôles aux pouvoirs distincts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F2EEE3"/>
                </a:solidFill>
                <a:latin typeface="Calibri"/>
              </a:rPr>
              <a:t>•  Cycle nuit / jour minuté (45 s / 60 s)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F2EEE3"/>
                </a:solidFill>
                <a:latin typeface="Calibri"/>
              </a:rPr>
              <a:t>•  Parties amicales ou classées (ELO)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ABA4C8"/>
                </a:solidFill>
                <a:latin typeface="Calibri"/>
              </a:rPr>
              <a:t>Chaque rôle a sa propre interface d'action : le client s'adapte à ce que vous êtes.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371600"/>
            <a:ext cx="2212848" cy="2395728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ll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1659128"/>
            <a:ext cx="1600200" cy="1244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66359" y="3054096"/>
            <a:ext cx="20299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Villageois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BA4C8"/>
                </a:solidFill>
                <a:latin typeface="Calibri"/>
              </a:rPr>
              <a:t>vote et déduit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2212848" cy="2395728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erewol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974" y="1572768"/>
            <a:ext cx="102362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3800" y="3054096"/>
            <a:ext cx="20299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Loup-Garou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BA4C8"/>
                </a:solidFill>
                <a:latin typeface="Calibri"/>
              </a:rPr>
              <a:t>dévore la nuit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1371600"/>
            <a:ext cx="2212848" cy="2395728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124" y="1748028"/>
            <a:ext cx="1600200" cy="1066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21240" y="3054096"/>
            <a:ext cx="20299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Voyante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BA4C8"/>
                </a:solidFill>
                <a:latin typeface="Calibri"/>
              </a:rPr>
              <a:t>sonde un rôle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3931920"/>
            <a:ext cx="2212848" cy="2395728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i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8904" y="4133088"/>
            <a:ext cx="944880" cy="1417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66359" y="5614416"/>
            <a:ext cx="20299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Sorcière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BA4C8"/>
                </a:solidFill>
                <a:latin typeface="Calibri"/>
              </a:rPr>
              <a:t>2 potions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931920"/>
            <a:ext cx="2212848" cy="2395728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un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8683" y="4392803"/>
            <a:ext cx="1600200" cy="89789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43800" y="5614416"/>
            <a:ext cx="20299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Chasseur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BA4C8"/>
                </a:solidFill>
                <a:latin typeface="Calibri"/>
              </a:rPr>
              <a:t>tir posthume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3931920"/>
            <a:ext cx="2212848" cy="2395728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4251960"/>
            <a:ext cx="221284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5800" b="0" i="0">
                <a:solidFill>
                  <a:srgbClr val="F2EEE3"/>
                </a:solidFill>
                <a:latin typeface="Calibri"/>
              </a:rPr>
              <a:t>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5614416"/>
            <a:ext cx="20299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Petite Fille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BA4C8"/>
                </a:solidFill>
                <a:latin typeface="Calibri"/>
              </a:rPr>
              <a:t>espionne les loups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BA4C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E8B44C"/>
                </a:solidFill>
                <a:latin typeface="Cambria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BA4C8"/>
                </a:solidFill>
                <a:latin typeface="Calibri"/>
              </a:rPr>
              <a:t>Client lourd + API maison : contrat d'interface JSON strict entre les deux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383280" cy="320040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 w="1270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29260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8B44C"/>
                </a:solidFill>
                <a:latin typeface="Cambria"/>
              </a:rPr>
              <a:t>CLIENT  JavaFX 21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Java 17, Maven, Jackson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FXML + CSS (thème médiéval)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Polling de l'état toutes les 2 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Timeline, transitions, sons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Fat JAR exécutable (shade)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383280" cy="320040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 w="12700">
            <a:solidFill>
              <a:srgbClr val="E05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737360"/>
            <a:ext cx="29260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05250"/>
                </a:solidFill>
                <a:latin typeface="Cambria"/>
              </a:rPr>
              <a:t>API REST  PHP 8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Routeur unique (index.php)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~30 endpoints JSON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Auth par token Bearer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Machine à états du jeu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Bots + IA Gemini (option)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554480"/>
            <a:ext cx="3291840" cy="320040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 w="12700">
            <a:solidFill>
              <a:srgbClr val="ABA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737360"/>
            <a:ext cx="2834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BA4C8"/>
                </a:solidFill>
                <a:latin typeface="Cambria"/>
              </a:rPr>
              <a:t>BDD  MySQL / MariaDB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9 tables (PDO préparé)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Comptes, sessions, votes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Actions de nuit, logs, chat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Amis, invitations, ELO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schema.sql + migrations v2→v6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5072" y="2999232"/>
            <a:ext cx="384048" cy="274320"/>
          </a:xfrm>
          <a:prstGeom prst="rightArrow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891272" y="2999232"/>
            <a:ext cx="384048" cy="274320"/>
          </a:xfrm>
          <a:prstGeom prst="rightArrow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1" y="265176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BA4C8"/>
                </a:solidFill>
                <a:latin typeface="Calibri"/>
              </a:rPr>
              <a:t>HTTP/JSON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65176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BA4C8"/>
                </a:solidFill>
                <a:latin typeface="Calibri"/>
              </a:rPr>
              <a:t>PDO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74920"/>
            <a:ext cx="11091672" cy="1143000"/>
          </a:xfrm>
          <a:prstGeom prst="roundRect">
            <a:avLst>
              <a:gd name="adj" fmla="val 7000"/>
            </a:avLst>
          </a:prstGeom>
          <a:solidFill>
            <a:srgbClr val="2D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E8B44C"/>
                </a:solidFill>
                <a:latin typeface="Calibri"/>
              </a:rPr>
              <a:t>Pourquoi le polling plutôt que WebSocket ?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GET /state toutes les 2 s (jamais sur le thread UI) : suffisant pour 4–10 joueurs, simple à débugger, et l'état complet renvoyé rend le client sans état côté serveur.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BA4C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E8B44C"/>
                </a:solidFill>
                <a:latin typeface="Cambria"/>
              </a:rPr>
              <a:t>Modèle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BA4C8"/>
                </a:solidFill>
                <a:latin typeface="Calibri"/>
              </a:rPr>
              <a:t>9 tables MySQL — schéma complet + migrations incrémentales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657600" cy="466344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8B44C"/>
                </a:solidFill>
                <a:latin typeface="Cambria"/>
              </a:rPr>
              <a:t>Cœur du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2EEE3"/>
                </a:solidFill>
                <a:latin typeface="Calibri"/>
              </a:rPr>
              <a:t>game_sessions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BA4C8"/>
                </a:solidFill>
                <a:latin typeface="Calibri"/>
              </a:rPr>
              <a:t>statut, phase, round, timer, capitaine en attente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45536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2EEE3"/>
                </a:solidFill>
                <a:latin typeface="Calibri"/>
              </a:rPr>
              <a:t>session_players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BA4C8"/>
                </a:solidFill>
                <a:latin typeface="Calibri"/>
              </a:rPr>
              <a:t>rôle, vivant, hôte, capitaine, potions, ELO avant/après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78224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2EEE3"/>
                </a:solidFill>
                <a:latin typeface="Calibri"/>
              </a:rPr>
              <a:t>votes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BA4C8"/>
                </a:solidFill>
                <a:latin typeface="Calibri"/>
              </a:rPr>
              <a:t>1 vote par (joueur, phase, round) — voix double du Capitaine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10912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2EEE3"/>
                </a:solidFill>
                <a:latin typeface="Calibri"/>
              </a:rPr>
              <a:t>night_actions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BA4C8"/>
                </a:solidFill>
                <a:latin typeface="Calibri"/>
              </a:rPr>
              <a:t>Voyante, Sorcière, Chasseur,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1508760"/>
            <a:ext cx="3657600" cy="466344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91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05250"/>
                </a:solidFill>
                <a:latin typeface="Cambria"/>
              </a:rPr>
              <a:t>Joueurs &amp; 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212848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2EEE3"/>
                </a:solidFill>
                <a:latin typeface="Calibri"/>
              </a:rPr>
              <a:t>players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BA4C8"/>
                </a:solidFill>
                <a:latin typeface="Calibri"/>
              </a:rPr>
              <a:t>compte, token Bearer, ELO, stats, avatar, flag 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145536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2EEE3"/>
                </a:solidFill>
                <a:latin typeface="Calibri"/>
              </a:rPr>
              <a:t>friendships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BA4C8"/>
                </a:solidFill>
                <a:latin typeface="Calibri"/>
              </a:rPr>
              <a:t>demandes et liens d'amitié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078224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2EEE3"/>
                </a:solidFill>
                <a:latin typeface="Calibri"/>
              </a:rPr>
              <a:t>game_invitations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BA4C8"/>
                </a:solidFill>
                <a:latin typeface="Calibri"/>
              </a:rPr>
              <a:t>inviter un ami dans sa partie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508760"/>
            <a:ext cx="3657600" cy="466344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1691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BA4C8"/>
                </a:solidFill>
                <a:latin typeface="Cambria"/>
              </a:rPr>
              <a:t>Événements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212848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2EEE3"/>
                </a:solidFill>
                <a:latin typeface="Calibri"/>
              </a:rPr>
              <a:t>game_logs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BA4C8"/>
                </a:solidFill>
                <a:latin typeface="Calibri"/>
              </a:rPr>
              <a:t>journal — visibilité ALL / WEREWOLVES / SELF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3145536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2EEE3"/>
                </a:solidFill>
                <a:latin typeface="Calibri"/>
              </a:rPr>
              <a:t>chat_messages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BA4C8"/>
                </a:solidFill>
                <a:latin typeface="Calibri"/>
              </a:rPr>
              <a:t>chat scopé village / loups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ABA4C8"/>
                </a:solidFill>
                <a:latin typeface="Calibri"/>
              </a:rPr>
              <a:t>Visibilité des rôles côté SQL : masqués tant que vivant, révélés aux morts, à la fin, et à soi-même.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BA4C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E8B44C"/>
                </a:solidFill>
                <a:latin typeface="Cambria"/>
              </a:rPr>
              <a:t>La machine à états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BA4C8"/>
                </a:solidFill>
                <a:latin typeface="Calibri"/>
              </a:rPr>
              <a:t>Le serveur est l'arbitre : le client ne fait qu'afficher et proposer des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514600" cy="155448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 w="12700">
            <a:solidFill>
              <a:srgbClr val="4A44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00784"/>
            <a:ext cx="21854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E8B44C"/>
                </a:solidFill>
                <a:latin typeface="Calibri"/>
              </a:rPr>
              <a:t>🐺  Loups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votent une victime
(majorité)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99816" y="2176272"/>
            <a:ext cx="384048" cy="274320"/>
          </a:xfrm>
          <a:prstGeom prst="rightArrow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514600" cy="155448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 w="12700">
            <a:solidFill>
              <a:srgbClr val="4A44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700784"/>
            <a:ext cx="21854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E8B44C"/>
                </a:solidFill>
                <a:latin typeface="Calibri"/>
              </a:rPr>
              <a:t>🔮  Voyante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sonde le rôle
d'un joueur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176272"/>
            <a:ext cx="384048" cy="274320"/>
          </a:xfrm>
          <a:prstGeom prst="rightArrow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2514600" cy="155448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 w="12700">
            <a:solidFill>
              <a:srgbClr val="4A44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700784"/>
            <a:ext cx="21854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E8B44C"/>
                </a:solidFill>
                <a:latin typeface="Calibri"/>
              </a:rPr>
              <a:t>🧪  Sorcière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potion de vie
ou de mort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51976" y="2176272"/>
            <a:ext cx="384048" cy="274320"/>
          </a:xfrm>
          <a:prstGeom prst="rightArrow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0" y="1554480"/>
            <a:ext cx="2514600" cy="155448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 w="12700">
            <a:solidFill>
              <a:srgbClr val="4A44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1472" y="1700784"/>
            <a:ext cx="21854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E8B44C"/>
                </a:solidFill>
                <a:latin typeface="Calibri"/>
              </a:rPr>
              <a:t>⚖  Résolution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morts annoncés
+ vérif victoire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2984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BA4C8"/>
                </a:solidFill>
                <a:latin typeface="Calibri"/>
              </a:rPr>
              <a:t>NUIT — 45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3931920" cy="155448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 w="12700">
            <a:solidFill>
              <a:srgbClr val="6B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941064"/>
            <a:ext cx="36027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E8B44C"/>
                </a:solidFill>
                <a:latin typeface="Calibri"/>
              </a:rPr>
              <a:t>🗳  Vote du village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décompte en direct,
voix double du Capitaine 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794760"/>
            <a:ext cx="3931920" cy="155448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 w="12700">
            <a:solidFill>
              <a:srgbClr val="6B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1" y="3941064"/>
            <a:ext cx="36027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E8B44C"/>
                </a:solidFill>
                <a:latin typeface="Calibri"/>
              </a:rPr>
              <a:t>⚖  Résolution du jour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lynchage (ou égalité),
vérif victoire → nuit suivante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590288" y="4416552"/>
            <a:ext cx="384048" cy="274320"/>
          </a:xfrm>
          <a:prstGeom prst="rightArrow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387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BA4C8"/>
                </a:solidFill>
                <a:latin typeface="Calibri"/>
              </a:rPr>
              <a:t>JOUR — 60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794760"/>
            <a:ext cx="2697480" cy="1554480"/>
          </a:xfrm>
          <a:prstGeom prst="roundRect">
            <a:avLst>
              <a:gd name="adj" fmla="val 7000"/>
            </a:avLst>
          </a:prstGeom>
          <a:solidFill>
            <a:srgbClr val="2D285A"/>
          </a:solidFill>
          <a:ln w="12700">
            <a:solidFill>
              <a:srgbClr val="E05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3941064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E05250"/>
                </a:solidFill>
                <a:latin typeface="Calibri"/>
              </a:rPr>
              <a:t>🏹  Pause Chasseur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s'il meurt, la partie se fige 30 s : il choisit qui emporter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69280"/>
            <a:ext cx="11091672" cy="868680"/>
          </a:xfrm>
          <a:prstGeom prst="roundRect">
            <a:avLst>
              <a:gd name="adj" fmla="val 7000"/>
            </a:avLst>
          </a:prstGeom>
          <a:solidFill>
            <a:srgbClr val="2D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81558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Une phase avance quand tous les concernés ont joué OU quand le timer expire — jamais bloquée par un joueur AFK.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BA4C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E8B44C"/>
                </a:solidFill>
                <a:latin typeface="Cambria"/>
              </a:rPr>
              <a:t>Composants UI JavaFX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BA4C8"/>
                </a:solidFill>
                <a:latin typeface="Calibri"/>
              </a:rPr>
              <a:t>Chaque exigence du cahier des charges, en situation réelle de jeu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532120" cy="1042415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1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TreeView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Vivants / Éliminés, tags hôte 👑 et Capitaine 🎖, rôles révélés aux morts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08760"/>
            <a:ext cx="5532120" cy="1042415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27631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ListView + ComboBox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choix de cible selon le rôle, chat, classement, historique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5532120" cy="1042415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ProgressBar animée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timer de phase — vire au rouge et pulse sous 10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697480"/>
            <a:ext cx="5532120" cy="1042415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816352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Dialog / Alert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vision de la Voyante (illustrée), tir du Chasseur, fin de partie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532120" cy="1042415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05072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Timeline + KeyFrame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polling 2 s + compte à rebours local resynchronisé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886200"/>
            <a:ext cx="5532120" cy="1042415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05072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Fade / Scale / Translate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transitions jour-nuit, lever de lune et de soleil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5532120" cy="1042415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93792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CSS + polices custom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thème sombre gaming, Cinzel &amp; IM Fell chargées au démarrage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5074920"/>
            <a:ext cx="5532120" cy="1042415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193792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AudioClip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5 ambiances : nuit, aube, hurlement, mort, victoire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BA4C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E8B44C"/>
                </a:solidFill>
                <a:latin typeface="Cambria"/>
              </a:rPr>
              <a:t>Au-delà du cahier des charges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BA4C8"/>
                </a:solidFill>
                <a:latin typeface="Calibri"/>
              </a:rPr>
              <a:t>Ce qui rend les parties vivantes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657600" cy="205740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E8B44C"/>
                </a:solidFill>
                <a:latin typeface="Calibri"/>
              </a:rPr>
              <a:t>🎖  Capitaine</a:t>
            </a:r>
          </a:p>
          <a:p>
            <a:pPr algn="l">
              <a:spcAft>
                <a:spcPts val="400"/>
              </a:spcAft>
            </a:pPr>
            <a:r>
              <a:rPr sz="4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désigné au démarrage, voix double au vote, transmet son écharpe à sa mort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7" y="1554480"/>
            <a:ext cx="3657600" cy="205740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1755648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E8B44C"/>
                </a:solidFill>
                <a:latin typeface="Calibri"/>
              </a:rPr>
              <a:t>👧  Petite Fille</a:t>
            </a:r>
          </a:p>
          <a:p>
            <a:pPr algn="l">
              <a:spcAft>
                <a:spcPts val="400"/>
              </a:spcAft>
            </a:pPr>
            <a:r>
              <a:rPr sz="4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lit le chat des loups la nuit — à elle d'exploiter l'info sans se griller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66175" y="1554480"/>
            <a:ext cx="3657600" cy="205740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94776" y="1755648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E8B44C"/>
                </a:solidFill>
                <a:latin typeface="Calibri"/>
              </a:rPr>
              <a:t>🏹  Chasseur interactif</a:t>
            </a:r>
          </a:p>
          <a:p>
            <a:pPr algn="l">
              <a:spcAft>
                <a:spcPts val="400"/>
              </a:spcAft>
            </a:pPr>
            <a:r>
              <a:rPr sz="4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fenêtre de tir de 30 s à sa mort, la partie attend sa flèche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3657600" cy="205740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41648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E8B44C"/>
                </a:solidFill>
                <a:latin typeface="Calibri"/>
              </a:rPr>
              <a:t>💬  Chat scopé</a:t>
            </a:r>
          </a:p>
          <a:p>
            <a:pPr algn="l">
              <a:spcAft>
                <a:spcPts val="400"/>
              </a:spcAft>
            </a:pPr>
            <a:r>
              <a:rPr sz="4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canal village + canal privé des loups ; les morts deviennent spectateurs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3840480"/>
            <a:ext cx="3657600" cy="205740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4041648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E8B44C"/>
                </a:solidFill>
                <a:latin typeface="Calibri"/>
              </a:rPr>
              <a:t>🏆  ELO &amp; classement</a:t>
            </a:r>
          </a:p>
          <a:p>
            <a:pPr algn="l">
              <a:spcAft>
                <a:spcPts val="400"/>
              </a:spcAft>
            </a:pPr>
            <a:r>
              <a:rPr sz="4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K=32 par équipe sur les parties classées, leaderboard, historique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3840480"/>
            <a:ext cx="3657600" cy="205740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94776" y="4041648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E8B44C"/>
                </a:solidFill>
                <a:latin typeface="Calibri"/>
              </a:rPr>
              <a:t>🤝  Social</a:t>
            </a:r>
          </a:p>
          <a:p>
            <a:pPr algn="l">
              <a:spcAft>
                <a:spcPts val="400"/>
              </a:spcAft>
            </a:pPr>
            <a:r>
              <a:rPr sz="4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amis, demandes, invitations en partie, profil avec stats et avatar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ABA4C8"/>
                </a:solidFill>
                <a:latin typeface="Calibri"/>
              </a:rPr>
              <a:t>Votes affichés en direct pendant les phases de vote — la tension monte quand le décompte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BA4C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E8B44C"/>
                </a:solidFill>
                <a:latin typeface="Cambria"/>
              </a:rPr>
              <a:t>Mode entraînement : des bots qui jouent (et parlent)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BA4C8"/>
                </a:solidFill>
                <a:latin typeface="Calibri"/>
              </a:rPr>
              <a:t>Jouer seul, à toute heure — et une vitrine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EEE3"/>
                </a:solidFill>
                <a:latin typeface="Cambria"/>
              </a:rPr>
              <a:t>Des bots qui jouent vraiment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2EEE3"/>
                </a:solidFill>
                <a:latin typeface="Calibri"/>
              </a:rPr>
              <a:t>•  Votent en meute la nuit, votent le jour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2EEE3"/>
                </a:solidFill>
                <a:latin typeface="Calibri"/>
              </a:rPr>
              <a:t>•  Sorcière : potions gérées, Voyante : sondes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2EEE3"/>
                </a:solidFill>
                <a:latin typeface="Calibri"/>
              </a:rPr>
              <a:t>•  Chasseur bot : riposte à sa mort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EEE3"/>
                </a:solidFill>
                <a:latin typeface="Cambria"/>
              </a:rPr>
              <a:t>Des dialogues générés par IA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2EEE3"/>
                </a:solidFill>
                <a:latin typeface="Calibri"/>
              </a:rPr>
              <a:t>•  Google Gemini (gemini-2.5-flash-lite, gratuit)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2EEE3"/>
                </a:solidFill>
                <a:latin typeface="Calibri"/>
              </a:rPr>
              <a:t>•  Prompt contextuel : rôle secret, joueurs vivants, derniers événements, chat récent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2EEE3"/>
                </a:solidFill>
                <a:latin typeface="Calibri"/>
              </a:rPr>
              <a:t>•  8 personnalités stables par bot : agressif, peureux, analytique, silencieux…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2EEE3"/>
                </a:solidFill>
                <a:latin typeface="Calibri"/>
              </a:rPr>
              <a:t>•  Les loups bots bluffent, ne se trahissent pas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2EEE3"/>
                </a:solidFill>
                <a:latin typeface="Calibri"/>
              </a:rPr>
              <a:t>•  Throttle 3 s / partie + fallback phrases pré-écrites si pas de clé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91640"/>
            <a:ext cx="5212080" cy="301752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 w="1270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920240"/>
            <a:ext cx="46634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ABA4C8"/>
                </a:solidFill>
                <a:latin typeface="Calibri"/>
              </a:rPr>
              <a:t>Vu en partie :</a:t>
            </a:r>
          </a:p>
          <a:p>
            <a:pPr algn="l">
              <a:spcAft>
                <a:spcPts val="400"/>
              </a:spcAft>
            </a:pPr>
            <a:r>
              <a:rPr sz="4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F2EEE3"/>
                </a:solidFill>
                <a:latin typeface="Calibri"/>
              </a:rPr>
              <a:t>« Je sens le loup à plein nez. »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BA4C8"/>
                </a:solidFill>
                <a:latin typeface="Calibri"/>
              </a:rPr>
              <a:t>— Brutus, villageois méfiant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F2EEE3"/>
                </a:solidFill>
                <a:latin typeface="Calibri"/>
              </a:rPr>
              <a:t>« Humm. Qui. »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BA4C8"/>
                </a:solidFill>
                <a:latin typeface="Calibri"/>
              </a:rPr>
              <a:t>— Iris, loup-garou au caractère silencieux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F2EEE3"/>
                </a:solidFill>
                <a:latin typeface="Calibri"/>
              </a:rPr>
              <a:t>« Nuit. Loups. Chassent. »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BA4C8"/>
                </a:solidFill>
                <a:latin typeface="Calibri"/>
              </a:rPr>
              <a:t>— Aurore, sous pression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983480"/>
            <a:ext cx="5212080" cy="1143000"/>
          </a:xfrm>
          <a:prstGeom prst="roundRect">
            <a:avLst>
              <a:gd name="adj" fmla="val 7000"/>
            </a:avLst>
          </a:prstGeom>
          <a:solidFill>
            <a:srgbClr val="2D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5138928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La clé API vit dans config.local.php, ignoré par Git — le dépôt ne contient aucun secret.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BA4C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E8B44C"/>
                </a:solidFill>
                <a:latin typeface="Cambria"/>
              </a:rPr>
              <a:t>Difficultés rencontrées (et résolues)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BA4C8"/>
                </a:solidFill>
                <a:latin typeface="Calibri"/>
              </a:rPr>
              <a:t>Quatre bugs formateurs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532120" cy="210312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50749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05250"/>
                </a:solidFill>
                <a:latin typeface="Calibri"/>
              </a:rPr>
              <a:t>Les loups ne tuaient jamais personne</a:t>
            </a:r>
          </a:p>
          <a:p>
            <a:pPr algn="l">
              <a:spcAft>
                <a:spcPts val="400"/>
              </a:spcAft>
            </a:pPr>
            <a:r>
              <a:rPr sz="3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2EEE3"/>
                </a:solidFill>
                <a:latin typeface="Calibri"/>
              </a:rPr>
              <a:t>Le « passer » de la Sorcière était stocké comme un faux WITCH_HEAL → soin fantôme chaque nuit. Trouvé en simulant une partie complète via l'API ; corrigé par un vrai type WITCH_PASS (migration v6).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532120" cy="210312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50749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05250"/>
                </a:solidFill>
                <a:latin typeface="Calibri"/>
              </a:rPr>
              <a:t>Connection refused au login</a:t>
            </a:r>
          </a:p>
          <a:p>
            <a:pPr algn="l">
              <a:spcAft>
                <a:spcPts val="400"/>
              </a:spcAft>
            </a:pPr>
            <a:r>
              <a:rPr sz="3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2EEE3"/>
                </a:solidFill>
                <a:latin typeface="Calibri"/>
              </a:rPr>
              <a:t>php -S localhost liait le serveur en IPv6 (::1) seulement, le client Java appelle en IPv4 → refus systématique. Bind explicite 127.0.0.1 des deux côtés.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86200"/>
            <a:ext cx="5532120" cy="210312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0749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05250"/>
                </a:solidFill>
                <a:latin typeface="Calibri"/>
              </a:rPr>
              <a:t>Le JAR JavaFX refusait de se lancer</a:t>
            </a:r>
          </a:p>
          <a:p>
            <a:pPr algn="l">
              <a:spcAft>
                <a:spcPts val="400"/>
              </a:spcAft>
            </a:pPr>
            <a:r>
              <a:rPr sz="3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2EEE3"/>
                </a:solidFill>
                <a:latin typeface="Calibri"/>
              </a:rPr>
              <a:t>« JavaFX runtime components are missing » : une classe Application ne peut pas être le Main-Class d'un fat jar. Classe Launcher intermédiaire + maven-shade.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886200"/>
            <a:ext cx="5532120" cy="210312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069080"/>
            <a:ext cx="50749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05250"/>
                </a:solidFill>
                <a:latin typeface="Calibri"/>
              </a:rPr>
              <a:t>Le modèle Gemini a disparu</a:t>
            </a:r>
          </a:p>
          <a:p>
            <a:pPr algn="l">
              <a:spcAft>
                <a:spcPts val="400"/>
              </a:spcAft>
            </a:pPr>
            <a:r>
              <a:rPr sz="3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2EEE3"/>
                </a:solidFill>
                <a:latin typeface="Calibri"/>
              </a:rPr>
              <a:t>gemini-1.5-flash retiré par Google → 404 silencieux, et son remplaçant « thinking » gaspillait le budget de tokens en réflexion. Passage à gemini-2.5-flash-lite après tests réels.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BA4C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E8B44C"/>
                </a:solidFill>
                <a:latin typeface="Cambria"/>
              </a:rPr>
              <a:t>Démo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BA4C8"/>
                </a:solidFill>
                <a:latin typeface="Calibri"/>
              </a:rPr>
              <a:t>Ce que nous allons vous montrer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229600" cy="1024128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621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71430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73352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Partie à 4 joueurs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4 fenêtres du client côte à côte (tools/demo.bat) : création, lobby, rôles secrets différents dans chaque fenêtre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24912"/>
            <a:ext cx="8229600" cy="1024128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92608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99232"/>
            <a:ext cx="621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71430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843784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Une nuit complète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loups qui votent en privé, Voyante qui sonde, timer rouge, sons d'ambiance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95344"/>
            <a:ext cx="8229600" cy="1024128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4096511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69663"/>
            <a:ext cx="621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71430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014215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Un vote du village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chat, décompte en direct, voix double du Capitaine, révélation du lynché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65776"/>
            <a:ext cx="8229600" cy="1024128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5266944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40096"/>
            <a:ext cx="621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71430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184648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B44C"/>
                </a:solidFill>
                <a:latin typeface="Calibri"/>
              </a:rPr>
              <a:t>Mode entraînement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2EEE3"/>
                </a:solidFill>
                <a:latin typeface="Calibri"/>
              </a:rPr>
              <a:t>partie solo contre 5 bots : ils jouent, votent et discutent (IA Gemini)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554480"/>
            <a:ext cx="2606040" cy="4617720"/>
          </a:xfrm>
          <a:prstGeom prst="roundRect">
            <a:avLst>
              <a:gd name="adj" fmla="val 7000"/>
            </a:avLst>
          </a:prstGeom>
          <a:solidFill>
            <a:srgbClr val="2D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783080"/>
            <a:ext cx="21945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8B44C"/>
                </a:solidFill>
                <a:latin typeface="Cambria"/>
              </a:rPr>
              <a:t>À observer</a:t>
            </a:r>
          </a:p>
          <a:p>
            <a:pPr algn="l">
              <a:spcAft>
                <a:spcPts val="400"/>
              </a:spcAft>
            </a:pPr>
            <a:r>
              <a:rPr sz="400" b="0" i="0">
                <a:solidFill>
                  <a:srgbClr val="F2EEE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2EEE3"/>
                </a:solidFill>
                <a:latin typeface="Calibri"/>
              </a:rPr>
              <a:t>•  TreeView des joueurs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2EEE3"/>
                </a:solidFill>
                <a:latin typeface="Calibri"/>
              </a:rPr>
              <a:t>•  Panneau d'action par rôle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2EEE3"/>
                </a:solidFill>
                <a:latin typeface="Calibri"/>
              </a:rPr>
              <a:t>•  Animations jour/nuit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2EEE3"/>
                </a:solidFill>
                <a:latin typeface="Calibri"/>
              </a:rPr>
              <a:t>•  Sons synthétisés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2EEE3"/>
                </a:solidFill>
                <a:latin typeface="Calibri"/>
              </a:rPr>
              <a:t>•  Chat loups 🐺 vs village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2EEE3"/>
                </a:solidFill>
                <a:latin typeface="Calibri"/>
              </a:rPr>
              <a:t>•  Fin de partie : rôles + 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BA4C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n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8B44C"/>
                </a:solidFill>
                <a:latin typeface="Cambria"/>
              </a:rPr>
              <a:t>Limites assumées &amp;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5212080" cy="329184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64208"/>
            <a:ext cx="4754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2EEE3"/>
                </a:solidFill>
                <a:latin typeface="Cambria"/>
              </a:rPr>
              <a:t>Proof of concept, assumé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Token statique en BDD (pas de TTL / refresh)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Polling 2 s plutôt que WebSocket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Capitaine tiré au sort (pas d'élection)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Pas encore de Cupidon ni de Voleur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5212080" cy="3291840"/>
          </a:xfrm>
          <a:prstGeom prst="roundRect">
            <a:avLst>
              <a:gd name="adj" fmla="val 7000"/>
            </a:avLst>
          </a:prstGeom>
          <a:solidFill>
            <a:srgbClr val="24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64208"/>
            <a:ext cx="4754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2EEE3"/>
                </a:solidFill>
                <a:latin typeface="Cambria"/>
              </a:rPr>
              <a:t>La suite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Réécriture du backend en Spring Boot — le contrat JSON est déjà en place, le client ne change pas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Interface d'administration (joueurs, modération, stats)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2EEE3"/>
                </a:solidFill>
                <a:latin typeface="Calibri"/>
              </a:rPr>
              <a:t>•  WebSocket pour le temps réel à plus grande échelle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2EEE3"/>
                </a:solidFill>
                <a:latin typeface="Cambria"/>
              </a:rPr>
              <a:t>Merci — place à la démo 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BA4C8"/>
                </a:solidFill>
                <a:latin typeface="Calibri"/>
              </a:rPr>
              <a:t>github.com/arcreane/Projet-Loup-Garou_amaury-guindon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