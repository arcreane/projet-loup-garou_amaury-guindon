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s  (cumul : 0:30)</a:t>
            </a:r>
          </a:p>
          <a:p/>
          <a:p>
            <a:r>
              <a:t>Bonjour. Je vais vous présenter mon projet de jeu multijoueur : une adaptation du Loup-Garou de Thiercelieux, en client lourd JavaFX, connecté à une API REST en PHP avec une base MySQL.</a:t>
            </a:r>
          </a:p>
          <a:p/>
          <a:p>
            <a:r>
              <a:t>J'ai réalisé ce projet seul : le client, l'API et la base de données.</a:t>
            </a:r>
          </a:p>
          <a:p/>
          <a:p>
            <a:r>
              <a:t>Je vais vous parler du jeu lui-même, de l'architecture, des choix techniques, des difficultés que j'ai rencontrées, et je terminerai par une démonstration en direct.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(cumul : 2:00)</a:t>
            </a:r>
          </a:p>
          <a:p/>
          <a:p>
            <a:r>
              <a:t>Pour ceux qui ne connaissent pas le jeu, les règles tiennent en trois phrases. Deux camps s'affrontent : les Loups-Garous et le Village. La nuit, les loups désignent secrètement une victime. Le jour, tout le village vote pour éliminer un suspect. Le dernier camp debout gagne. Toute la force du jeu, c'est le bluff : personne ne connaît le rôle des autres.</a:t>
            </a:r>
          </a:p>
          <a:p/>
          <a:p>
            <a:r>
              <a:t>Une partie se joue de 4 à 10 joueurs, avec six rôles. Le Villageois, qui n'a que sa déduction. Le Loup-Garou, qui chasse la nuit. La Voyante, qui peut sonder le rôle d'un joueur chaque nuit. La Sorcière, qui possède deux potions : une pour sauver, une pour tuer, utilisables une seule fois. Le Chasseur, qui, quand il meurt, emporte quelqu'un avec lui. Et la Petite Fille, un rôle que j'ai ajouté au-delà du sujet : elle peut espionner les loups pendant la nuit.</a:t>
            </a:r>
          </a:p>
          <a:p/>
          <a:p>
            <a:r>
              <a:t>Les illustrations que vous voyez sont celles utilisées dans le jeu. Et un point important : le client s'adapte au rôle. Chaque joueur voit une interface d'action différente selon ce qu'il est et selon la phase en cours.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(cumul : 4:00)</a:t>
            </a:r>
          </a:p>
          <a:p/>
          <a:p>
            <a:r>
              <a:t>Voici l'architecture globale, en trois blocs, de gauche à droite.</a:t>
            </a:r>
          </a:p>
          <a:p/>
          <a:p>
            <a:r>
              <a:t>D'abord le client : JavaFX 21, construit avec Maven. Toutes les requêtes réseau passent par des Task en arrière-plan — je ne fais jamais de réseau sur le thread d'interface, donc l'application ne gèle jamais. Le client est packagé en fat JAR exécutable : un simple java -jar suffit pour le lancer sur n'importe quelle machine avec un JDK 17.</a:t>
            </a:r>
          </a:p>
          <a:p/>
          <a:p>
            <a:r>
              <a:t>Ensuite l'API : du PHP 8 sans framework, et c'est un choix voulu par le sujet — c'est un proof of concept qui prépare la réécriture en Spring Boot. Un routeur unique reçoit toutes les requêtes et les distribue vers une trentaine d'endpoints JSON. L'authentification se fait par token Bearer stocké en base.</a:t>
            </a:r>
          </a:p>
          <a:p/>
          <a:p>
            <a:r>
              <a:t>Enfin la base de données : MySQL, attaquée via PDO avec des requêtes préparées partout — donc pas d'injection SQL possible.</a:t>
            </a:r>
          </a:p>
          <a:p/>
          <a:p>
            <a:r>
              <a:t>Un mot sur le choix du polling plutôt que du WebSocket. Toutes les deux secondes, le client demande GET /state, et le serveur renvoie l'état complet de la partie. C'est simple, c'est robuste, c'est facile à débugger, et surtout le serveur reste la seule source de vérité : le client ne fait qu'afficher. Pour 4 à 10 joueurs, c'est largement suffisant. Le WebSocket serait le bon choix à plus grande échelle — j'y reviendrai en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(cumul : 5:00)</a:t>
            </a:r>
          </a:p>
          <a:p/>
          <a:p>
            <a:r>
              <a:t>Le modèle de données : neuf tables, organisées en trois domaines.</a:t>
            </a:r>
          </a:p>
          <a:p/>
          <a:p>
            <a:r>
              <a:t>Le cœur du jeu : la partie elle-même, les joueurs dans la partie avec leur rôle, les votes, et les actions de nuit. Le domaine social : les comptes, les amis, les invitations. Et les événements : le journal de partie et le chat.</a:t>
            </a:r>
          </a:p>
          <a:p/>
          <a:p>
            <a:r>
              <a:t>Je veux attirer votre attention sur un point : la visibilité des rôles est décidée côté serveur. Tant qu'un joueur est vivant, son rôle ne part jamais dans le JSON. Donc même avec un client modifié, il est impossible de tricher.</a:t>
            </a:r>
          </a:p>
          <a:p/>
          <a:p>
            <a:r>
              <a:t>Enfin, pour l'installation : un schéma complet pour partir de zéro, et cinq migrations incrémentales pour mettre à jour une base existante — comme on le ferait en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(cumul : 7:00)</a:t>
            </a:r>
          </a:p>
          <a:p/>
          <a:p>
            <a:r>
              <a:t>Voici le moteur du jeu : une machine à états, entièrement côté serveur.</a:t>
            </a:r>
          </a:p>
          <a:p/>
          <a:p>
            <a:r>
              <a:t>La nuit d'abord, en 45 secondes. Les loups se réveillent et votent pour une victime — c'est la majorité qui l'emporte. Puis la Voyante sonde le rôle d'un joueur. Puis la Sorcière décide : sauver la victime, empoisonner quelqu'un, ou ne rien faire. Et enfin la résolution : les morts de la nuit sont annoncés au village, et on vérifie si un camp a gagné.</a:t>
            </a:r>
          </a:p>
          <a:p/>
          <a:p>
            <a:r>
              <a:t>Le jour ensuite, en 60 secondes. Tout le village vote, avec une subtilité : la voix du Capitaine compte double. Le joueur désigné est éliminé, son rôle est révélé, on vérifie la victoire, et la nuit retombe.</a:t>
            </a:r>
          </a:p>
          <a:p/>
          <a:p>
            <a:r>
              <a:t>Deux mécanismes méritent d'être soulignés. Premièrement, une phase avance dès que tous les joueurs concernés ont joué, ou quand le timer expire. Conséquence : un joueur absent ne bloque jamais la partie. Deuxièmement, la pause Chasseur : si le Chasseur meurt, la machine à états se fige pendant 30 secondes, le temps qu'il choisisse qui emporter avec lui. C'est le seul cas où le jeu attend un joueur.</a:t>
            </a:r>
          </a:p>
          <a:p/>
          <a:p>
            <a:r>
              <a:t>Et j'insiste : toute cette logique est côté serveur. Le client ne fait qu'afficher l'état et proposer des actions.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(cumul : 8:30)</a:t>
            </a:r>
          </a:p>
          <a:p/>
          <a:p>
            <a:r>
              <a:t>Cette slide fait le lien direct avec le cahier des charges : chaque composant demandé est utilisé pour un vrai besoin du jeu, pas artificiellement.</a:t>
            </a:r>
          </a:p>
          <a:p/>
          <a:p>
            <a:r>
              <a:t>Le TreeView affiche les joueurs vivants et éliminés, avec les tags de l'hôte et du Capitaine. Les ListView et ComboBox servent au choix des cibles selon le rôle. La ProgressBar anime le timer de phase — et sous les 10 dernières secondes, elle vire au rouge et le compteur pulse, pour mettre la pression. Les Dialog affichent la vision de la Voyante avec l'illustration du rôle, le tir du Chasseur et la fin de partie.</a:t>
            </a:r>
          </a:p>
          <a:p/>
          <a:p>
            <a:r>
              <a:t>Côté animations : une Timeline gère le polling toutes les deux secondes, une autre le compte à rebours local, resynchronisé à chaque réponse du serveur. Et des transitions de fondu et de translation accompagnent le passage jour-nuit, avec le lever de la lune et du soleil.</a:t>
            </a:r>
          </a:p>
          <a:p/>
          <a:p>
            <a:r>
              <a:t>Un mot sur les sons : cinq ambiances jouées par AudioClip — la nuit, l'aube, le hurlement de loup, la mort et la victoire. Je les ai synthétisés en Python, ce qui les rend libres de droits par construction. Le script de génération est dans le dépôt.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(cumul : 10:00)</a:t>
            </a:r>
          </a:p>
          <a:p/>
          <a:p>
            <a:r>
              <a:t>Tout ce que vous voyez sur cette slide n'était pas demandé dans le sujet — c'est ce que j'ai ajouté pour rendre les parties vivantes.</a:t>
            </a:r>
          </a:p>
          <a:p/>
          <a:p>
            <a:r>
              <a:t>Deux rôles supplémentaires : le Capitaine, désigné au démarrage, dont la voix compte double au vote, et qui transmet son écharpe à un survivant quand il meurt. Et la Petite Fille, qui lit le chat des loups pendant la nuit — à elle d'exploiter l'information sans se faire griller.</a:t>
            </a:r>
          </a:p>
          <a:p/>
          <a:p>
            <a:r>
              <a:t>Le Chasseur est entièrement interactif : à sa mort, une fenêtre de tir s'ouvre et la partie l'attend 30 secondes.</a:t>
            </a:r>
          </a:p>
          <a:p/>
          <a:p>
            <a:r>
              <a:t>Le chat est scopé : un canal village public, et un canal privé pour les loups la nuit. Les morts, eux, deviennent spectateurs : ils voient tous les rôles et tous les canaux.</a:t>
            </a:r>
          </a:p>
          <a:p/>
          <a:p>
            <a:r>
              <a:t>Et autour du jeu : un classement ELO avec la vraie formule, K égal 32, calculé par équipe sur les parties classées, un historique, un leaderboard, et un système social complet avec amis et invitations en partie.</a:t>
            </a:r>
          </a:p>
          <a:p/>
          <a:p>
            <a:r>
              <a:t>Je ne m'attarde pas : vous verrez tout ça en vrai dans la démo.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(cumul : 12:00)</a:t>
            </a:r>
          </a:p>
          <a:p/>
          <a:p>
            <a:r>
              <a:t>Pour pouvoir jouer seul, j'ai développé un mode entraînement contre des bots. Et ce ne sont pas des figurants : ils jouent vraiment toutes les phases. Les loups bots votent en meute la nuit, la sorcière bot gère ses potions, et si un chasseur bot meurt, il riposte.</a:t>
            </a:r>
          </a:p>
          <a:p/>
          <a:p>
            <a:r>
              <a:t>La partie la plus intéressante, ce sont les dialogues. Ils sont générés par l'IA Google Gemini, avec un prompt contextuel : le bot connaît son rôle secret, la liste des vivants, les derniers événements de la partie et le chat récent. Il réagit donc à ce qui se passe réellement.</a:t>
            </a:r>
          </a:p>
          <a:p/>
          <a:p>
            <a:r>
              <a:t>Chaque bot a une personnalité stable — agressif, peureux, analytique, silencieux… Vous pouvez le voir dans les citations à droite : Iris a le caractère silencieux, et ça se voit — elle répond « Humm. Qui. » Et les loups bots ne révèlent jamais leur rôle : c'est une consigne dans le prompt, ils bluffent.</a:t>
            </a:r>
          </a:p>
          <a:p/>
          <a:p>
            <a:r>
              <a:t>Bien sûr, il y a des garde-fous : maximum un message d'IA toutes les trois secondes par partie, un timeout de huit secondes sur l'appel, et si aucune clé API n'est configurée, les bots retombent sur des phrases pré-écrites. Le jeu ne dépend jamais de l'IA pour fonctionner.</a:t>
            </a:r>
          </a:p>
          <a:p/>
          <a:p>
            <a:r>
              <a:t>Dernier point, la sécurité : la clé API vit dans un fichier de configuration local ignoré par Git — le dépôt ne contient aucun secret.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(cumul : 14:00)</a:t>
            </a:r>
          </a:p>
          <a:p/>
          <a:p>
            <a:r>
              <a:t>Je voudrais partager les difficultés les plus formatrices du projet. Je vais vous en raconter deux.</a:t>
            </a:r>
          </a:p>
          <a:p/>
          <a:p>
            <a:r>
              <a:t>La première, c'est mon bug préféré : à un moment, les loups ne tuaient jamais personne. Chaque nuit, le journal affichait « aucune victime, étrange »... et c'était effectivement étrange. La cause : quand la Sorcière choisissait de ne rien faire, son « passer » était enregistré en base comme un faux soin, juste pour marquer qu'elle avait joué. Et ce faux soin annulait l'attaque des loups, toutes les nuits. Je l'ai trouvé en écrivant une simulation de partie complète à travers l'API — pas en testant les endpoints un par un, mais en jouant une vraie partie de bout en bout. La leçon que j'en tire : c'est le système entier qu'il faut tester, pas ses morceaux.</a:t>
            </a:r>
          </a:p>
          <a:p/>
          <a:p>
            <a:r>
              <a:t>La deuxième : un « Connection refused » au login, alors que le serveur tournait parfaitement. En fait, le serveur PHP lancé avec « localhost » s'était lié uniquement en IPv6, alors que le client Java appelait en IPv4. Deux protocoles, deux mondes, aucun contact. La solution : un bind explicite en 127.0.0.1 des deux côtés. Leçon : toujours être explicite sur le binding réseau.</a:t>
            </a:r>
          </a:p>
          <a:p/>
          <a:p>
            <a:r>
              <a:t>Les deux autres cartes — le packaging du JAR JavaFX et le modèle Gemini retiré par Google — je vous laisse les lire, et j'y répondrai volontiers en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s  (cumul : 14:30)</a:t>
            </a:r>
          </a:p>
          <a:p/>
          <a:p>
            <a:r>
              <a:t>Voici le programme de la démonstration, en quatre temps. D'abord une partie à quatre joueurs, avec quatre fenêtres du client côte à côte — chacune avec son propre compte et son propre rôle secret. Ensuite une nuit complète, puis un vote du village. Et je terminerai par le mode entraînement contre les bots.</a:t>
            </a:r>
          </a:p>
          <a:p/>
          <a:p>
            <a:r>
              <a:t>Pendant la démo, je vous invite à garder un œil sur les éléments listés à droite : les composants d'interface, les animations, les sons et le chat des loups.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s  (cumul : 15:00)</a:t>
            </a:r>
          </a:p>
          <a:p/>
          <a:p>
            <a:r>
              <a:t>Pour conclure, un mot sur les limites — elles sont assumées. Le token d'authentification est simple, sans expiration. Le polling remplace le WebSocket. Le Capitaine est tiré au sort plutôt qu'élu. Ce sont des choix de périmètre pour un proof of concept, pas des oublis.</a:t>
            </a:r>
          </a:p>
          <a:p/>
          <a:p>
            <a:r>
              <a:t>Et la suite est déjà préparée : le contrat d'interface JSON est en place, donc la réécriture du backend en Spring Boot pourra se faire sans toucher une ligne du client.</a:t>
            </a:r>
          </a:p>
          <a:p/>
          <a:p>
            <a:r>
              <a:t>Merci de votre attention — place à la démo.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pic>
        <p:nvPicPr>
          <p:cNvPr id="2" name="Picture 1" descr="title_bg.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1965960"/>
            <a:ext cx="10360152" cy="1371600"/>
          </a:xfrm>
          <a:prstGeom prst="rect">
            <a:avLst/>
          </a:prstGeom>
          <a:noFill/>
        </p:spPr>
        <p:txBody>
          <a:bodyPr wrap="square" anchor="t" lIns="0" rIns="0" tIns="0" bIns="0">
            <a:spAutoFit/>
          </a:bodyPr>
          <a:lstStyle/>
          <a:p>
            <a:pPr algn="ctr">
              <a:spcAft>
                <a:spcPts val="400"/>
              </a:spcAft>
            </a:pPr>
            <a:r>
              <a:rPr sz="6000" b="1" i="0">
                <a:solidFill>
                  <a:srgbClr val="E8B44C"/>
                </a:solidFill>
                <a:latin typeface="Cambria"/>
              </a:rPr>
              <a:t>LOUP-GAROU</a:t>
            </a:r>
          </a:p>
        </p:txBody>
      </p:sp>
      <p:sp>
        <p:nvSpPr>
          <p:cNvPr id="4" name="TextBox 3"/>
          <p:cNvSpPr txBox="1"/>
          <p:nvPr/>
        </p:nvSpPr>
        <p:spPr>
          <a:xfrm>
            <a:off x="914400" y="3063240"/>
            <a:ext cx="10360152" cy="548640"/>
          </a:xfrm>
          <a:prstGeom prst="rect">
            <a:avLst/>
          </a:prstGeom>
          <a:noFill/>
        </p:spPr>
        <p:txBody>
          <a:bodyPr wrap="square" anchor="t" lIns="0" rIns="0" tIns="0" bIns="0">
            <a:spAutoFit/>
          </a:bodyPr>
          <a:lstStyle/>
          <a:p>
            <a:pPr algn="ctr">
              <a:spcAft>
                <a:spcPts val="400"/>
              </a:spcAft>
            </a:pPr>
            <a:r>
              <a:rPr sz="2000" b="0" i="0">
                <a:solidFill>
                  <a:srgbClr val="F2EEE3"/>
                </a:solidFill>
                <a:latin typeface="Calibri"/>
              </a:rPr>
              <a:t>Jeu multijoueur en temps réel — Client JavaFX  ·  API REST PHP  ·  MySQL</a:t>
            </a:r>
          </a:p>
        </p:txBody>
      </p:sp>
      <p:sp>
        <p:nvSpPr>
          <p:cNvPr id="5" name="TextBox 4"/>
          <p:cNvSpPr txBox="1"/>
          <p:nvPr/>
        </p:nvSpPr>
        <p:spPr>
          <a:xfrm>
            <a:off x="914400" y="5394960"/>
            <a:ext cx="10360152" cy="822960"/>
          </a:xfrm>
          <a:prstGeom prst="rect">
            <a:avLst/>
          </a:prstGeom>
          <a:noFill/>
        </p:spPr>
        <p:txBody>
          <a:bodyPr wrap="square" anchor="t" lIns="0" rIns="0" tIns="0" bIns="0">
            <a:spAutoFit/>
          </a:bodyPr>
          <a:lstStyle/>
          <a:p>
            <a:pPr algn="ctr">
              <a:spcAft>
                <a:spcPts val="400"/>
              </a:spcAft>
            </a:pPr>
            <a:r>
              <a:rPr sz="1500" b="1" i="0">
                <a:solidFill>
                  <a:srgbClr val="F2EEE3"/>
                </a:solidFill>
                <a:latin typeface="Calibri"/>
              </a:rPr>
              <a:t>Soutenance — 7 juillet 2026</a:t>
            </a:r>
          </a:p>
          <a:p>
            <a:pPr algn="ctr">
              <a:spcAft>
                <a:spcPts val="400"/>
              </a:spcAft>
            </a:pPr>
            <a:r>
              <a:rPr sz="1300" b="0" i="0">
                <a:solidFill>
                  <a:srgbClr val="ABA4C8"/>
                </a:solidFill>
                <a:latin typeface="Calibri"/>
              </a:rPr>
              <a:t>Amaury Guindon  ·  École 89 — Master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sp>
        <p:nvSpPr>
          <p:cNvPr id="2" name="TextBox 1"/>
          <p:cNvSpPr txBox="1"/>
          <p:nvPr/>
        </p:nvSpPr>
        <p:spPr>
          <a:xfrm>
            <a:off x="548640" y="292608"/>
            <a:ext cx="11064240" cy="685800"/>
          </a:xfrm>
          <a:prstGeom prst="rect">
            <a:avLst/>
          </a:prstGeom>
          <a:noFill/>
        </p:spPr>
        <p:txBody>
          <a:bodyPr wrap="square" anchor="t" lIns="0" rIns="0" tIns="0" bIns="0">
            <a:spAutoFit/>
          </a:bodyPr>
          <a:lstStyle/>
          <a:p>
            <a:pPr algn="l">
              <a:spcAft>
                <a:spcPts val="400"/>
              </a:spcAft>
            </a:pPr>
            <a:r>
              <a:rPr sz="3300" b="1" i="0">
                <a:solidFill>
                  <a:srgbClr val="E8B44C"/>
                </a:solidFill>
                <a:latin typeface="Cambria"/>
              </a:rPr>
              <a:t>Le jeu</a:t>
            </a:r>
          </a:p>
        </p:txBody>
      </p:sp>
      <p:sp>
        <p:nvSpPr>
          <p:cNvPr id="3" name="TextBox 2"/>
          <p:cNvSpPr txBox="1"/>
          <p:nvPr/>
        </p:nvSpPr>
        <p:spPr>
          <a:xfrm>
            <a:off x="548640" y="896112"/>
            <a:ext cx="11064240" cy="365760"/>
          </a:xfrm>
          <a:prstGeom prst="rect">
            <a:avLst/>
          </a:prstGeom>
          <a:noFill/>
        </p:spPr>
        <p:txBody>
          <a:bodyPr wrap="square" anchor="t" lIns="0" rIns="0" tIns="0" bIns="0">
            <a:spAutoFit/>
          </a:bodyPr>
          <a:lstStyle/>
          <a:p>
            <a:pPr algn="l">
              <a:spcAft>
                <a:spcPts val="400"/>
              </a:spcAft>
            </a:pPr>
            <a:r>
              <a:rPr sz="1400" b="0" i="0">
                <a:solidFill>
                  <a:srgbClr val="ABA4C8"/>
                </a:solidFill>
                <a:latin typeface="Calibri"/>
              </a:rPr>
              <a:t>Le classique du bluff et de la déduction, en client lourd multijoueur</a:t>
            </a:r>
          </a:p>
        </p:txBody>
      </p:sp>
      <p:sp>
        <p:nvSpPr>
          <p:cNvPr id="4" name="TextBox 3"/>
          <p:cNvSpPr txBox="1"/>
          <p:nvPr/>
        </p:nvSpPr>
        <p:spPr>
          <a:xfrm>
            <a:off x="548640" y="1417320"/>
            <a:ext cx="4206240" cy="4846320"/>
          </a:xfrm>
          <a:prstGeom prst="rect">
            <a:avLst/>
          </a:prstGeom>
          <a:noFill/>
        </p:spPr>
        <p:txBody>
          <a:bodyPr wrap="square" anchor="t" lIns="0" rIns="0" tIns="0" bIns="0">
            <a:spAutoFit/>
          </a:bodyPr>
          <a:lstStyle/>
          <a:p>
            <a:pPr algn="l">
              <a:spcAft>
                <a:spcPts val="400"/>
              </a:spcAft>
            </a:pPr>
            <a:r>
              <a:rPr sz="1700" b="1" i="0">
                <a:solidFill>
                  <a:srgbClr val="F2EEE3"/>
                </a:solidFill>
                <a:latin typeface="Cambria"/>
              </a:rPr>
              <a:t>Le concept</a:t>
            </a:r>
          </a:p>
          <a:p>
            <a:pPr algn="l">
              <a:spcAft>
                <a:spcPts val="400"/>
              </a:spcAft>
            </a:pPr>
            <a:r>
              <a:rPr sz="1350" b="0" i="0">
                <a:solidFill>
                  <a:srgbClr val="F2EEE3"/>
                </a:solidFill>
                <a:latin typeface="Calibri"/>
              </a:rPr>
              <a:t>Deux camps s'affrontent : les Loups-Garous dévorent la nuit, le Village vote le jour. Dernier camp debout gagne.</a:t>
            </a:r>
          </a:p>
          <a:p>
            <a:pPr algn="l">
              <a:spcAft>
                <a:spcPts val="400"/>
              </a:spcAft>
            </a:pPr>
            <a:r>
              <a:rPr sz="600" b="0" i="0">
                <a:solidFill>
                  <a:srgbClr val="F2EEE3"/>
                </a:solidFill>
                <a:latin typeface="Calibri"/>
              </a:rPr>
              <a:t/>
            </a:r>
          </a:p>
          <a:p>
            <a:pPr algn="l">
              <a:spcAft>
                <a:spcPts val="400"/>
              </a:spcAft>
            </a:pPr>
            <a:r>
              <a:rPr sz="1700" b="1" i="0">
                <a:solidFill>
                  <a:srgbClr val="F2EEE3"/>
                </a:solidFill>
                <a:latin typeface="Cambria"/>
              </a:rPr>
              <a:t>En chiffres</a:t>
            </a:r>
          </a:p>
          <a:p>
            <a:pPr algn="l">
              <a:spcAft>
                <a:spcPts val="400"/>
              </a:spcAft>
            </a:pPr>
            <a:r>
              <a:rPr sz="1350" b="0" i="0">
                <a:solidFill>
                  <a:srgbClr val="F2EEE3"/>
                </a:solidFill>
                <a:latin typeface="Calibri"/>
              </a:rPr>
              <a:t>•  4 à 10 joueurs par partie</a:t>
            </a:r>
          </a:p>
          <a:p>
            <a:pPr algn="l">
              <a:spcAft>
                <a:spcPts val="400"/>
              </a:spcAft>
            </a:pPr>
            <a:r>
              <a:rPr sz="1350" b="0" i="0">
                <a:solidFill>
                  <a:srgbClr val="F2EEE3"/>
                </a:solidFill>
                <a:latin typeface="Calibri"/>
              </a:rPr>
              <a:t>•  6 rôles aux pouvoirs distincts</a:t>
            </a:r>
          </a:p>
          <a:p>
            <a:pPr algn="l">
              <a:spcAft>
                <a:spcPts val="400"/>
              </a:spcAft>
            </a:pPr>
            <a:r>
              <a:rPr sz="1350" b="0" i="0">
                <a:solidFill>
                  <a:srgbClr val="F2EEE3"/>
                </a:solidFill>
                <a:latin typeface="Calibri"/>
              </a:rPr>
              <a:t>•  Cycle nuit / jour minuté (45 s / 60 s)</a:t>
            </a:r>
          </a:p>
          <a:p>
            <a:pPr algn="l">
              <a:spcAft>
                <a:spcPts val="400"/>
              </a:spcAft>
            </a:pPr>
            <a:r>
              <a:rPr sz="1350" b="0" i="0">
                <a:solidFill>
                  <a:srgbClr val="F2EEE3"/>
                </a:solidFill>
                <a:latin typeface="Calibri"/>
              </a:rPr>
              <a:t>•  Parties amicales ou classées (ELO)</a:t>
            </a:r>
          </a:p>
          <a:p>
            <a:pPr algn="l">
              <a:spcAft>
                <a:spcPts val="400"/>
              </a:spcAft>
            </a:pPr>
            <a:r>
              <a:rPr sz="600" b="0" i="0">
                <a:solidFill>
                  <a:srgbClr val="F2EEE3"/>
                </a:solidFill>
                <a:latin typeface="Calibri"/>
              </a:rPr>
              <a:t/>
            </a:r>
          </a:p>
          <a:p>
            <a:pPr algn="l">
              <a:spcAft>
                <a:spcPts val="400"/>
              </a:spcAft>
            </a:pPr>
            <a:r>
              <a:rPr sz="1250" b="0" i="1">
                <a:solidFill>
                  <a:srgbClr val="ABA4C8"/>
                </a:solidFill>
                <a:latin typeface="Calibri"/>
              </a:rPr>
              <a:t>Chaque rôle a sa propre interface d'action : le client s'adapte à ce que vous êtes.</a:t>
            </a:r>
          </a:p>
        </p:txBody>
      </p:sp>
      <p:sp>
        <p:nvSpPr>
          <p:cNvPr id="5" name="Rounded Rectangle 4"/>
          <p:cNvSpPr/>
          <p:nvPr/>
        </p:nvSpPr>
        <p:spPr>
          <a:xfrm>
            <a:off x="5074920" y="1371600"/>
            <a:ext cx="2212848" cy="23957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illager.png"/>
          <p:cNvPicPr>
            <a:picLocks noChangeAspect="1"/>
          </p:cNvPicPr>
          <p:nvPr/>
        </p:nvPicPr>
        <p:blipFill>
          <a:blip r:embed="rId2"/>
          <a:stretch>
            <a:fillRect/>
          </a:stretch>
        </p:blipFill>
        <p:spPr>
          <a:xfrm>
            <a:off x="5381244" y="1659128"/>
            <a:ext cx="1600200" cy="1244599"/>
          </a:xfrm>
          <a:prstGeom prst="rect">
            <a:avLst/>
          </a:prstGeom>
        </p:spPr>
      </p:pic>
      <p:sp>
        <p:nvSpPr>
          <p:cNvPr id="7" name="TextBox 6"/>
          <p:cNvSpPr txBox="1"/>
          <p:nvPr/>
        </p:nvSpPr>
        <p:spPr>
          <a:xfrm>
            <a:off x="5166359" y="3054096"/>
            <a:ext cx="2029967" cy="640080"/>
          </a:xfrm>
          <a:prstGeom prst="rect">
            <a:avLst/>
          </a:prstGeom>
          <a:noFill/>
        </p:spPr>
        <p:txBody>
          <a:bodyPr wrap="square" anchor="t" lIns="0" rIns="0" tIns="0" bIns="0">
            <a:spAutoFit/>
          </a:bodyPr>
          <a:lstStyle/>
          <a:p>
            <a:pPr algn="ctr">
              <a:spcAft>
                <a:spcPts val="400"/>
              </a:spcAft>
            </a:pPr>
            <a:r>
              <a:rPr sz="1400" b="1" i="0">
                <a:solidFill>
                  <a:srgbClr val="E8B44C"/>
                </a:solidFill>
                <a:latin typeface="Calibri"/>
              </a:rPr>
              <a:t>Villageois</a:t>
            </a:r>
          </a:p>
          <a:p>
            <a:pPr algn="ctr">
              <a:spcAft>
                <a:spcPts val="400"/>
              </a:spcAft>
            </a:pPr>
            <a:r>
              <a:rPr sz="1100" b="0" i="0">
                <a:solidFill>
                  <a:srgbClr val="ABA4C8"/>
                </a:solidFill>
                <a:latin typeface="Calibri"/>
              </a:rPr>
              <a:t>vote et déduit</a:t>
            </a:r>
          </a:p>
        </p:txBody>
      </p:sp>
      <p:sp>
        <p:nvSpPr>
          <p:cNvPr id="8" name="Rounded Rectangle 7"/>
          <p:cNvSpPr/>
          <p:nvPr/>
        </p:nvSpPr>
        <p:spPr>
          <a:xfrm>
            <a:off x="7452360" y="1371600"/>
            <a:ext cx="2212848" cy="23957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werewolf.png"/>
          <p:cNvPicPr>
            <a:picLocks noChangeAspect="1"/>
          </p:cNvPicPr>
          <p:nvPr/>
        </p:nvPicPr>
        <p:blipFill>
          <a:blip r:embed="rId3"/>
          <a:stretch>
            <a:fillRect/>
          </a:stretch>
        </p:blipFill>
        <p:spPr>
          <a:xfrm>
            <a:off x="8046974" y="1572768"/>
            <a:ext cx="1023620" cy="1417320"/>
          </a:xfrm>
          <a:prstGeom prst="rect">
            <a:avLst/>
          </a:prstGeom>
        </p:spPr>
      </p:pic>
      <p:sp>
        <p:nvSpPr>
          <p:cNvPr id="10" name="TextBox 9"/>
          <p:cNvSpPr txBox="1"/>
          <p:nvPr/>
        </p:nvSpPr>
        <p:spPr>
          <a:xfrm>
            <a:off x="7543800" y="3054096"/>
            <a:ext cx="2029967" cy="640080"/>
          </a:xfrm>
          <a:prstGeom prst="rect">
            <a:avLst/>
          </a:prstGeom>
          <a:noFill/>
        </p:spPr>
        <p:txBody>
          <a:bodyPr wrap="square" anchor="t" lIns="0" rIns="0" tIns="0" bIns="0">
            <a:spAutoFit/>
          </a:bodyPr>
          <a:lstStyle/>
          <a:p>
            <a:pPr algn="ctr">
              <a:spcAft>
                <a:spcPts val="400"/>
              </a:spcAft>
            </a:pPr>
            <a:r>
              <a:rPr sz="1400" b="1" i="0">
                <a:solidFill>
                  <a:srgbClr val="E8B44C"/>
                </a:solidFill>
                <a:latin typeface="Calibri"/>
              </a:rPr>
              <a:t>Loup-Garou</a:t>
            </a:r>
          </a:p>
          <a:p>
            <a:pPr algn="ctr">
              <a:spcAft>
                <a:spcPts val="400"/>
              </a:spcAft>
            </a:pPr>
            <a:r>
              <a:rPr sz="1100" b="0" i="0">
                <a:solidFill>
                  <a:srgbClr val="ABA4C8"/>
                </a:solidFill>
                <a:latin typeface="Calibri"/>
              </a:rPr>
              <a:t>dévore la nuit</a:t>
            </a:r>
          </a:p>
        </p:txBody>
      </p:sp>
      <p:sp>
        <p:nvSpPr>
          <p:cNvPr id="11" name="Rounded Rectangle 10"/>
          <p:cNvSpPr/>
          <p:nvPr/>
        </p:nvSpPr>
        <p:spPr>
          <a:xfrm>
            <a:off x="9829800" y="1371600"/>
            <a:ext cx="2212848" cy="23957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er.png"/>
          <p:cNvPicPr>
            <a:picLocks noChangeAspect="1"/>
          </p:cNvPicPr>
          <p:nvPr/>
        </p:nvPicPr>
        <p:blipFill>
          <a:blip r:embed="rId4"/>
          <a:stretch>
            <a:fillRect/>
          </a:stretch>
        </p:blipFill>
        <p:spPr>
          <a:xfrm>
            <a:off x="10136124" y="1748028"/>
            <a:ext cx="1600200" cy="1066800"/>
          </a:xfrm>
          <a:prstGeom prst="rect">
            <a:avLst/>
          </a:prstGeom>
        </p:spPr>
      </p:pic>
      <p:sp>
        <p:nvSpPr>
          <p:cNvPr id="13" name="TextBox 12"/>
          <p:cNvSpPr txBox="1"/>
          <p:nvPr/>
        </p:nvSpPr>
        <p:spPr>
          <a:xfrm>
            <a:off x="9921240" y="3054096"/>
            <a:ext cx="2029967" cy="640080"/>
          </a:xfrm>
          <a:prstGeom prst="rect">
            <a:avLst/>
          </a:prstGeom>
          <a:noFill/>
        </p:spPr>
        <p:txBody>
          <a:bodyPr wrap="square" anchor="t" lIns="0" rIns="0" tIns="0" bIns="0">
            <a:spAutoFit/>
          </a:bodyPr>
          <a:lstStyle/>
          <a:p>
            <a:pPr algn="ctr">
              <a:spcAft>
                <a:spcPts val="400"/>
              </a:spcAft>
            </a:pPr>
            <a:r>
              <a:rPr sz="1400" b="1" i="0">
                <a:solidFill>
                  <a:srgbClr val="E8B44C"/>
                </a:solidFill>
                <a:latin typeface="Calibri"/>
              </a:rPr>
              <a:t>Voyante</a:t>
            </a:r>
          </a:p>
          <a:p>
            <a:pPr algn="ctr">
              <a:spcAft>
                <a:spcPts val="400"/>
              </a:spcAft>
            </a:pPr>
            <a:r>
              <a:rPr sz="1100" b="0" i="0">
                <a:solidFill>
                  <a:srgbClr val="ABA4C8"/>
                </a:solidFill>
                <a:latin typeface="Calibri"/>
              </a:rPr>
              <a:t>sonde un rôle</a:t>
            </a:r>
          </a:p>
        </p:txBody>
      </p:sp>
      <p:sp>
        <p:nvSpPr>
          <p:cNvPr id="14" name="Rounded Rectangle 13"/>
          <p:cNvSpPr/>
          <p:nvPr/>
        </p:nvSpPr>
        <p:spPr>
          <a:xfrm>
            <a:off x="5074920" y="3931920"/>
            <a:ext cx="2212848" cy="23957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witch.png"/>
          <p:cNvPicPr>
            <a:picLocks noChangeAspect="1"/>
          </p:cNvPicPr>
          <p:nvPr/>
        </p:nvPicPr>
        <p:blipFill>
          <a:blip r:embed="rId5"/>
          <a:stretch>
            <a:fillRect/>
          </a:stretch>
        </p:blipFill>
        <p:spPr>
          <a:xfrm>
            <a:off x="5708904" y="4133088"/>
            <a:ext cx="944880" cy="1417320"/>
          </a:xfrm>
          <a:prstGeom prst="rect">
            <a:avLst/>
          </a:prstGeom>
        </p:spPr>
      </p:pic>
      <p:sp>
        <p:nvSpPr>
          <p:cNvPr id="16" name="TextBox 15"/>
          <p:cNvSpPr txBox="1"/>
          <p:nvPr/>
        </p:nvSpPr>
        <p:spPr>
          <a:xfrm>
            <a:off x="5166359" y="5614416"/>
            <a:ext cx="2029967" cy="640080"/>
          </a:xfrm>
          <a:prstGeom prst="rect">
            <a:avLst/>
          </a:prstGeom>
          <a:noFill/>
        </p:spPr>
        <p:txBody>
          <a:bodyPr wrap="square" anchor="t" lIns="0" rIns="0" tIns="0" bIns="0">
            <a:spAutoFit/>
          </a:bodyPr>
          <a:lstStyle/>
          <a:p>
            <a:pPr algn="ctr">
              <a:spcAft>
                <a:spcPts val="400"/>
              </a:spcAft>
            </a:pPr>
            <a:r>
              <a:rPr sz="1400" b="1" i="0">
                <a:solidFill>
                  <a:srgbClr val="E8B44C"/>
                </a:solidFill>
                <a:latin typeface="Calibri"/>
              </a:rPr>
              <a:t>Sorcière</a:t>
            </a:r>
          </a:p>
          <a:p>
            <a:pPr algn="ctr">
              <a:spcAft>
                <a:spcPts val="400"/>
              </a:spcAft>
            </a:pPr>
            <a:r>
              <a:rPr sz="1100" b="0" i="0">
                <a:solidFill>
                  <a:srgbClr val="ABA4C8"/>
                </a:solidFill>
                <a:latin typeface="Calibri"/>
              </a:rPr>
              <a:t>2 potions</a:t>
            </a:r>
          </a:p>
        </p:txBody>
      </p:sp>
      <p:sp>
        <p:nvSpPr>
          <p:cNvPr id="17" name="Rounded Rectangle 16"/>
          <p:cNvSpPr/>
          <p:nvPr/>
        </p:nvSpPr>
        <p:spPr>
          <a:xfrm>
            <a:off x="7452360" y="3931920"/>
            <a:ext cx="2212848" cy="23957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unter.png"/>
          <p:cNvPicPr>
            <a:picLocks noChangeAspect="1"/>
          </p:cNvPicPr>
          <p:nvPr/>
        </p:nvPicPr>
        <p:blipFill>
          <a:blip r:embed="rId6"/>
          <a:stretch>
            <a:fillRect/>
          </a:stretch>
        </p:blipFill>
        <p:spPr>
          <a:xfrm>
            <a:off x="7758683" y="4392803"/>
            <a:ext cx="1600200" cy="897890"/>
          </a:xfrm>
          <a:prstGeom prst="rect">
            <a:avLst/>
          </a:prstGeom>
        </p:spPr>
      </p:pic>
      <p:sp>
        <p:nvSpPr>
          <p:cNvPr id="19" name="TextBox 18"/>
          <p:cNvSpPr txBox="1"/>
          <p:nvPr/>
        </p:nvSpPr>
        <p:spPr>
          <a:xfrm>
            <a:off x="7543800" y="5614416"/>
            <a:ext cx="2029967" cy="640080"/>
          </a:xfrm>
          <a:prstGeom prst="rect">
            <a:avLst/>
          </a:prstGeom>
          <a:noFill/>
        </p:spPr>
        <p:txBody>
          <a:bodyPr wrap="square" anchor="t" lIns="0" rIns="0" tIns="0" bIns="0">
            <a:spAutoFit/>
          </a:bodyPr>
          <a:lstStyle/>
          <a:p>
            <a:pPr algn="ctr">
              <a:spcAft>
                <a:spcPts val="400"/>
              </a:spcAft>
            </a:pPr>
            <a:r>
              <a:rPr sz="1400" b="1" i="0">
                <a:solidFill>
                  <a:srgbClr val="E8B44C"/>
                </a:solidFill>
                <a:latin typeface="Calibri"/>
              </a:rPr>
              <a:t>Chasseur</a:t>
            </a:r>
          </a:p>
          <a:p>
            <a:pPr algn="ctr">
              <a:spcAft>
                <a:spcPts val="400"/>
              </a:spcAft>
            </a:pPr>
            <a:r>
              <a:rPr sz="1100" b="0" i="0">
                <a:solidFill>
                  <a:srgbClr val="ABA4C8"/>
                </a:solidFill>
                <a:latin typeface="Calibri"/>
              </a:rPr>
              <a:t>tir posthume</a:t>
            </a:r>
          </a:p>
        </p:txBody>
      </p:sp>
      <p:sp>
        <p:nvSpPr>
          <p:cNvPr id="20" name="Rounded Rectangle 19"/>
          <p:cNvSpPr/>
          <p:nvPr/>
        </p:nvSpPr>
        <p:spPr>
          <a:xfrm>
            <a:off x="9829800" y="3931920"/>
            <a:ext cx="2212848" cy="23957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4251960"/>
            <a:ext cx="2212848" cy="1188720"/>
          </a:xfrm>
          <a:prstGeom prst="rect">
            <a:avLst/>
          </a:prstGeom>
          <a:noFill/>
        </p:spPr>
        <p:txBody>
          <a:bodyPr wrap="square" anchor="t" lIns="0" rIns="0" tIns="0" bIns="0">
            <a:spAutoFit/>
          </a:bodyPr>
          <a:lstStyle/>
          <a:p>
            <a:pPr algn="ctr">
              <a:spcAft>
                <a:spcPts val="400"/>
              </a:spcAft>
            </a:pPr>
            <a:r>
              <a:rPr sz="5800" b="0" i="0">
                <a:solidFill>
                  <a:srgbClr val="F2EEE3"/>
                </a:solidFill>
                <a:latin typeface="Calibri"/>
              </a:rPr>
              <a:t>👧</a:t>
            </a:r>
          </a:p>
        </p:txBody>
      </p:sp>
      <p:sp>
        <p:nvSpPr>
          <p:cNvPr id="22" name="TextBox 21"/>
          <p:cNvSpPr txBox="1"/>
          <p:nvPr/>
        </p:nvSpPr>
        <p:spPr>
          <a:xfrm>
            <a:off x="9921240" y="5614416"/>
            <a:ext cx="2029967" cy="640080"/>
          </a:xfrm>
          <a:prstGeom prst="rect">
            <a:avLst/>
          </a:prstGeom>
          <a:noFill/>
        </p:spPr>
        <p:txBody>
          <a:bodyPr wrap="square" anchor="t" lIns="0" rIns="0" tIns="0" bIns="0">
            <a:spAutoFit/>
          </a:bodyPr>
          <a:lstStyle/>
          <a:p>
            <a:pPr algn="ctr">
              <a:spcAft>
                <a:spcPts val="400"/>
              </a:spcAft>
            </a:pPr>
            <a:r>
              <a:rPr sz="1400" b="1" i="0">
                <a:solidFill>
                  <a:srgbClr val="E8B44C"/>
                </a:solidFill>
                <a:latin typeface="Calibri"/>
              </a:rPr>
              <a:t>Petite Fille</a:t>
            </a:r>
          </a:p>
          <a:p>
            <a:pPr algn="ctr">
              <a:spcAft>
                <a:spcPts val="400"/>
              </a:spcAft>
            </a:pPr>
            <a:r>
              <a:rPr sz="1100" b="0" i="0">
                <a:solidFill>
                  <a:srgbClr val="ABA4C8"/>
                </a:solidFill>
                <a:latin typeface="Calibri"/>
              </a:rPr>
              <a:t>espionne les loups</a:t>
            </a:r>
          </a:p>
        </p:txBody>
      </p:sp>
      <p:sp>
        <p:nvSpPr>
          <p:cNvPr id="23" name="TextBox 22"/>
          <p:cNvSpPr txBox="1"/>
          <p:nvPr/>
        </p:nvSpPr>
        <p:spPr>
          <a:xfrm>
            <a:off x="11475720" y="6473952"/>
            <a:ext cx="548640" cy="274320"/>
          </a:xfrm>
          <a:prstGeom prst="rect">
            <a:avLst/>
          </a:prstGeom>
          <a:noFill/>
        </p:spPr>
        <p:txBody>
          <a:bodyPr wrap="square" anchor="t" lIns="0" rIns="0" tIns="0" bIns="0">
            <a:spAutoFit/>
          </a:bodyPr>
          <a:lstStyle/>
          <a:p>
            <a:pPr algn="r">
              <a:spcAft>
                <a:spcPts val="400"/>
              </a:spcAft>
            </a:pPr>
            <a:r>
              <a:rPr sz="1000" b="0" i="0">
                <a:solidFill>
                  <a:srgbClr val="ABA4C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sp>
        <p:nvSpPr>
          <p:cNvPr id="2" name="TextBox 1"/>
          <p:cNvSpPr txBox="1"/>
          <p:nvPr/>
        </p:nvSpPr>
        <p:spPr>
          <a:xfrm>
            <a:off x="548640" y="292608"/>
            <a:ext cx="11064240" cy="685800"/>
          </a:xfrm>
          <a:prstGeom prst="rect">
            <a:avLst/>
          </a:prstGeom>
          <a:noFill/>
        </p:spPr>
        <p:txBody>
          <a:bodyPr wrap="square" anchor="t" lIns="0" rIns="0" tIns="0" bIns="0">
            <a:spAutoFit/>
          </a:bodyPr>
          <a:lstStyle/>
          <a:p>
            <a:pPr algn="l">
              <a:spcAft>
                <a:spcPts val="400"/>
              </a:spcAft>
            </a:pPr>
            <a:r>
              <a:rPr sz="3300" b="1" i="0">
                <a:solidFill>
                  <a:srgbClr val="E8B44C"/>
                </a:solidFill>
                <a:latin typeface="Cambria"/>
              </a:rPr>
              <a:t>Architecture</a:t>
            </a:r>
          </a:p>
        </p:txBody>
      </p:sp>
      <p:sp>
        <p:nvSpPr>
          <p:cNvPr id="3" name="TextBox 2"/>
          <p:cNvSpPr txBox="1"/>
          <p:nvPr/>
        </p:nvSpPr>
        <p:spPr>
          <a:xfrm>
            <a:off x="548640" y="896112"/>
            <a:ext cx="11064240" cy="365760"/>
          </a:xfrm>
          <a:prstGeom prst="rect">
            <a:avLst/>
          </a:prstGeom>
          <a:noFill/>
        </p:spPr>
        <p:txBody>
          <a:bodyPr wrap="square" anchor="t" lIns="0" rIns="0" tIns="0" bIns="0">
            <a:spAutoFit/>
          </a:bodyPr>
          <a:lstStyle/>
          <a:p>
            <a:pPr algn="l">
              <a:spcAft>
                <a:spcPts val="400"/>
              </a:spcAft>
            </a:pPr>
            <a:r>
              <a:rPr sz="1400" b="0" i="0">
                <a:solidFill>
                  <a:srgbClr val="ABA4C8"/>
                </a:solidFill>
                <a:latin typeface="Calibri"/>
              </a:rPr>
              <a:t>Client lourd + API maison : contrat d'interface JSON strict entre les deux</a:t>
            </a:r>
          </a:p>
        </p:txBody>
      </p:sp>
      <p:sp>
        <p:nvSpPr>
          <p:cNvPr id="4" name="Rounded Rectangle 3"/>
          <p:cNvSpPr/>
          <p:nvPr/>
        </p:nvSpPr>
        <p:spPr>
          <a:xfrm>
            <a:off x="548640" y="1554480"/>
            <a:ext cx="3383280" cy="3200400"/>
          </a:xfrm>
          <a:prstGeom prst="roundRect">
            <a:avLst>
              <a:gd name="adj" fmla="val 7000"/>
            </a:avLst>
          </a:prstGeom>
          <a:solidFill>
            <a:srgbClr val="24204A"/>
          </a:solidFill>
          <a:ln w="12700">
            <a:solidFill>
              <a:srgbClr val="E8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37360"/>
            <a:ext cx="2926080" cy="2834640"/>
          </a:xfrm>
          <a:prstGeom prst="rect">
            <a:avLst/>
          </a:prstGeom>
          <a:noFill/>
        </p:spPr>
        <p:txBody>
          <a:bodyPr wrap="square" anchor="t" lIns="0" rIns="0" tIns="0" bIns="0">
            <a:spAutoFit/>
          </a:bodyPr>
          <a:lstStyle/>
          <a:p>
            <a:pPr algn="l">
              <a:spcAft>
                <a:spcPts val="400"/>
              </a:spcAft>
            </a:pPr>
            <a:r>
              <a:rPr sz="1600" b="1" i="0">
                <a:solidFill>
                  <a:srgbClr val="E8B44C"/>
                </a:solidFill>
                <a:latin typeface="Cambria"/>
              </a:rPr>
              <a:t>CLIENT  JavaFX 21</a:t>
            </a:r>
          </a:p>
          <a:p>
            <a:pPr algn="l">
              <a:spcAft>
                <a:spcPts val="400"/>
              </a:spcAft>
            </a:pPr>
            <a:r>
              <a:rPr sz="1250" b="0" i="0">
                <a:solidFill>
                  <a:srgbClr val="F2EEE3"/>
                </a:solidFill>
                <a:latin typeface="Calibri"/>
              </a:rPr>
              <a:t>•  Java 17, Maven, Jackson</a:t>
            </a:r>
          </a:p>
          <a:p>
            <a:pPr algn="l">
              <a:spcAft>
                <a:spcPts val="400"/>
              </a:spcAft>
            </a:pPr>
            <a:r>
              <a:rPr sz="1250" b="0" i="0">
                <a:solidFill>
                  <a:srgbClr val="F2EEE3"/>
                </a:solidFill>
                <a:latin typeface="Calibri"/>
              </a:rPr>
              <a:t>•  FXML + CSS (thème médiéval)</a:t>
            </a:r>
          </a:p>
          <a:p>
            <a:pPr algn="l">
              <a:spcAft>
                <a:spcPts val="400"/>
              </a:spcAft>
            </a:pPr>
            <a:r>
              <a:rPr sz="1250" b="0" i="0">
                <a:solidFill>
                  <a:srgbClr val="F2EEE3"/>
                </a:solidFill>
                <a:latin typeface="Calibri"/>
              </a:rPr>
              <a:t>•  Polling de l'état toutes les 2 s</a:t>
            </a:r>
          </a:p>
          <a:p>
            <a:pPr algn="l">
              <a:spcAft>
                <a:spcPts val="400"/>
              </a:spcAft>
            </a:pPr>
            <a:r>
              <a:rPr sz="1250" b="0" i="0">
                <a:solidFill>
                  <a:srgbClr val="F2EEE3"/>
                </a:solidFill>
                <a:latin typeface="Calibri"/>
              </a:rPr>
              <a:t>•  Timeline, transitions, sons</a:t>
            </a:r>
          </a:p>
          <a:p>
            <a:pPr algn="l">
              <a:spcAft>
                <a:spcPts val="400"/>
              </a:spcAft>
            </a:pPr>
            <a:r>
              <a:rPr sz="1250" b="0" i="0">
                <a:solidFill>
                  <a:srgbClr val="F2EEE3"/>
                </a:solidFill>
                <a:latin typeface="Calibri"/>
              </a:rPr>
              <a:t>•  Fat JAR exécutable (shade)</a:t>
            </a:r>
          </a:p>
        </p:txBody>
      </p:sp>
      <p:sp>
        <p:nvSpPr>
          <p:cNvPr id="6" name="Rounded Rectangle 5"/>
          <p:cNvSpPr/>
          <p:nvPr/>
        </p:nvSpPr>
        <p:spPr>
          <a:xfrm>
            <a:off x="4434840" y="1554480"/>
            <a:ext cx="3383280" cy="3200400"/>
          </a:xfrm>
          <a:prstGeom prst="roundRect">
            <a:avLst>
              <a:gd name="adj" fmla="val 7000"/>
            </a:avLst>
          </a:prstGeom>
          <a:solidFill>
            <a:srgbClr val="24204A"/>
          </a:solidFill>
          <a:ln w="12700">
            <a:solidFill>
              <a:srgbClr val="E052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737360"/>
            <a:ext cx="2926080" cy="2834640"/>
          </a:xfrm>
          <a:prstGeom prst="rect">
            <a:avLst/>
          </a:prstGeom>
          <a:noFill/>
        </p:spPr>
        <p:txBody>
          <a:bodyPr wrap="square" anchor="t" lIns="0" rIns="0" tIns="0" bIns="0">
            <a:spAutoFit/>
          </a:bodyPr>
          <a:lstStyle/>
          <a:p>
            <a:pPr algn="l">
              <a:spcAft>
                <a:spcPts val="400"/>
              </a:spcAft>
            </a:pPr>
            <a:r>
              <a:rPr sz="1600" b="1" i="0">
                <a:solidFill>
                  <a:srgbClr val="E05250"/>
                </a:solidFill>
                <a:latin typeface="Cambria"/>
              </a:rPr>
              <a:t>API REST  PHP 8</a:t>
            </a:r>
          </a:p>
          <a:p>
            <a:pPr algn="l">
              <a:spcAft>
                <a:spcPts val="400"/>
              </a:spcAft>
            </a:pPr>
            <a:r>
              <a:rPr sz="1250" b="0" i="0">
                <a:solidFill>
                  <a:srgbClr val="F2EEE3"/>
                </a:solidFill>
                <a:latin typeface="Calibri"/>
              </a:rPr>
              <a:t>•  Routeur unique (index.php)</a:t>
            </a:r>
          </a:p>
          <a:p>
            <a:pPr algn="l">
              <a:spcAft>
                <a:spcPts val="400"/>
              </a:spcAft>
            </a:pPr>
            <a:r>
              <a:rPr sz="1250" b="0" i="0">
                <a:solidFill>
                  <a:srgbClr val="F2EEE3"/>
                </a:solidFill>
                <a:latin typeface="Calibri"/>
              </a:rPr>
              <a:t>•  ~30 endpoints JSON</a:t>
            </a:r>
          </a:p>
          <a:p>
            <a:pPr algn="l">
              <a:spcAft>
                <a:spcPts val="400"/>
              </a:spcAft>
            </a:pPr>
            <a:r>
              <a:rPr sz="1250" b="0" i="0">
                <a:solidFill>
                  <a:srgbClr val="F2EEE3"/>
                </a:solidFill>
                <a:latin typeface="Calibri"/>
              </a:rPr>
              <a:t>•  Auth par token Bearer</a:t>
            </a:r>
          </a:p>
          <a:p>
            <a:pPr algn="l">
              <a:spcAft>
                <a:spcPts val="400"/>
              </a:spcAft>
            </a:pPr>
            <a:r>
              <a:rPr sz="1250" b="0" i="0">
                <a:solidFill>
                  <a:srgbClr val="F2EEE3"/>
                </a:solidFill>
                <a:latin typeface="Calibri"/>
              </a:rPr>
              <a:t>•  Machine à états du jeu</a:t>
            </a:r>
          </a:p>
          <a:p>
            <a:pPr algn="l">
              <a:spcAft>
                <a:spcPts val="400"/>
              </a:spcAft>
            </a:pPr>
            <a:r>
              <a:rPr sz="1250" b="0" i="0">
                <a:solidFill>
                  <a:srgbClr val="F2EEE3"/>
                </a:solidFill>
                <a:latin typeface="Calibri"/>
              </a:rPr>
              <a:t>•  Bots + IA Gemini (option)</a:t>
            </a:r>
          </a:p>
        </p:txBody>
      </p:sp>
      <p:sp>
        <p:nvSpPr>
          <p:cNvPr id="8" name="Rounded Rectangle 7"/>
          <p:cNvSpPr/>
          <p:nvPr/>
        </p:nvSpPr>
        <p:spPr>
          <a:xfrm>
            <a:off x="8321040" y="1554480"/>
            <a:ext cx="3291840" cy="3200400"/>
          </a:xfrm>
          <a:prstGeom prst="roundRect">
            <a:avLst>
              <a:gd name="adj" fmla="val 7000"/>
            </a:avLst>
          </a:prstGeom>
          <a:solidFill>
            <a:srgbClr val="24204A"/>
          </a:solidFill>
          <a:ln w="12700">
            <a:solidFill>
              <a:srgbClr val="ABA4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9640" y="1737360"/>
            <a:ext cx="2834640" cy="2834640"/>
          </a:xfrm>
          <a:prstGeom prst="rect">
            <a:avLst/>
          </a:prstGeom>
          <a:noFill/>
        </p:spPr>
        <p:txBody>
          <a:bodyPr wrap="square" anchor="t" lIns="0" rIns="0" tIns="0" bIns="0">
            <a:spAutoFit/>
          </a:bodyPr>
          <a:lstStyle/>
          <a:p>
            <a:pPr algn="l">
              <a:spcAft>
                <a:spcPts val="400"/>
              </a:spcAft>
            </a:pPr>
            <a:r>
              <a:rPr sz="1600" b="1" i="0">
                <a:solidFill>
                  <a:srgbClr val="ABA4C8"/>
                </a:solidFill>
                <a:latin typeface="Cambria"/>
              </a:rPr>
              <a:t>BDD  MySQL / MariaDB</a:t>
            </a:r>
          </a:p>
          <a:p>
            <a:pPr algn="l">
              <a:spcAft>
                <a:spcPts val="400"/>
              </a:spcAft>
            </a:pPr>
            <a:r>
              <a:rPr sz="1250" b="0" i="0">
                <a:solidFill>
                  <a:srgbClr val="F2EEE3"/>
                </a:solidFill>
                <a:latin typeface="Calibri"/>
              </a:rPr>
              <a:t>•  9 tables (PDO préparé)</a:t>
            </a:r>
          </a:p>
          <a:p>
            <a:pPr algn="l">
              <a:spcAft>
                <a:spcPts val="400"/>
              </a:spcAft>
            </a:pPr>
            <a:r>
              <a:rPr sz="1250" b="0" i="0">
                <a:solidFill>
                  <a:srgbClr val="F2EEE3"/>
                </a:solidFill>
                <a:latin typeface="Calibri"/>
              </a:rPr>
              <a:t>•  Comptes, sessions, votes</a:t>
            </a:r>
          </a:p>
          <a:p>
            <a:pPr algn="l">
              <a:spcAft>
                <a:spcPts val="400"/>
              </a:spcAft>
            </a:pPr>
            <a:r>
              <a:rPr sz="1250" b="0" i="0">
                <a:solidFill>
                  <a:srgbClr val="F2EEE3"/>
                </a:solidFill>
                <a:latin typeface="Calibri"/>
              </a:rPr>
              <a:t>•  Actions de nuit, logs, chat</a:t>
            </a:r>
          </a:p>
          <a:p>
            <a:pPr algn="l">
              <a:spcAft>
                <a:spcPts val="400"/>
              </a:spcAft>
            </a:pPr>
            <a:r>
              <a:rPr sz="1250" b="0" i="0">
                <a:solidFill>
                  <a:srgbClr val="F2EEE3"/>
                </a:solidFill>
                <a:latin typeface="Calibri"/>
              </a:rPr>
              <a:t>•  Amis, invitations, ELO</a:t>
            </a:r>
          </a:p>
          <a:p>
            <a:pPr algn="l">
              <a:spcAft>
                <a:spcPts val="400"/>
              </a:spcAft>
            </a:pPr>
            <a:r>
              <a:rPr sz="1250" b="0" i="0">
                <a:solidFill>
                  <a:srgbClr val="F2EEE3"/>
                </a:solidFill>
                <a:latin typeface="Calibri"/>
              </a:rPr>
              <a:t>•  schema.sql + migrations v2→v6</a:t>
            </a:r>
          </a:p>
        </p:txBody>
      </p:sp>
      <p:sp>
        <p:nvSpPr>
          <p:cNvPr id="10" name="Right Arrow 9"/>
          <p:cNvSpPr/>
          <p:nvPr/>
        </p:nvSpPr>
        <p:spPr>
          <a:xfrm>
            <a:off x="4005072" y="2999232"/>
            <a:ext cx="384048" cy="274320"/>
          </a:xfrm>
          <a:prstGeom prst="rightArrow">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7891272" y="2999232"/>
            <a:ext cx="384048" cy="274320"/>
          </a:xfrm>
          <a:prstGeom prst="rightArrow">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22191" y="2651760"/>
            <a:ext cx="822960" cy="274320"/>
          </a:xfrm>
          <a:prstGeom prst="rect">
            <a:avLst/>
          </a:prstGeom>
          <a:noFill/>
        </p:spPr>
        <p:txBody>
          <a:bodyPr wrap="square" anchor="t" lIns="0" rIns="0" tIns="0" bIns="0">
            <a:spAutoFit/>
          </a:bodyPr>
          <a:lstStyle/>
          <a:p>
            <a:pPr algn="ctr">
              <a:spcAft>
                <a:spcPts val="400"/>
              </a:spcAft>
            </a:pPr>
            <a:r>
              <a:rPr sz="1000" b="0" i="0">
                <a:solidFill>
                  <a:srgbClr val="ABA4C8"/>
                </a:solidFill>
                <a:latin typeface="Calibri"/>
              </a:rPr>
              <a:t>HTTP/JSON</a:t>
            </a:r>
          </a:p>
        </p:txBody>
      </p:sp>
      <p:sp>
        <p:nvSpPr>
          <p:cNvPr id="13" name="TextBox 12"/>
          <p:cNvSpPr txBox="1"/>
          <p:nvPr/>
        </p:nvSpPr>
        <p:spPr>
          <a:xfrm>
            <a:off x="7726679" y="2651760"/>
            <a:ext cx="822960" cy="274320"/>
          </a:xfrm>
          <a:prstGeom prst="rect">
            <a:avLst/>
          </a:prstGeom>
          <a:noFill/>
        </p:spPr>
        <p:txBody>
          <a:bodyPr wrap="square" anchor="t" lIns="0" rIns="0" tIns="0" bIns="0">
            <a:spAutoFit/>
          </a:bodyPr>
          <a:lstStyle/>
          <a:p>
            <a:pPr algn="ctr">
              <a:spcAft>
                <a:spcPts val="400"/>
              </a:spcAft>
            </a:pPr>
            <a:r>
              <a:rPr sz="1000" b="0" i="0">
                <a:solidFill>
                  <a:srgbClr val="ABA4C8"/>
                </a:solidFill>
                <a:latin typeface="Calibri"/>
              </a:rPr>
              <a:t>PDO</a:t>
            </a:r>
          </a:p>
        </p:txBody>
      </p:sp>
      <p:sp>
        <p:nvSpPr>
          <p:cNvPr id="14" name="Rounded Rectangle 13"/>
          <p:cNvSpPr/>
          <p:nvPr/>
        </p:nvSpPr>
        <p:spPr>
          <a:xfrm>
            <a:off x="548640" y="5074920"/>
            <a:ext cx="11091672" cy="1143000"/>
          </a:xfrm>
          <a:prstGeom prst="roundRect">
            <a:avLst>
              <a:gd name="adj" fmla="val 7000"/>
            </a:avLst>
          </a:prstGeom>
          <a:solidFill>
            <a:srgbClr val="2D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257800"/>
            <a:ext cx="10607040" cy="822960"/>
          </a:xfrm>
          <a:prstGeom prst="rect">
            <a:avLst/>
          </a:prstGeom>
          <a:noFill/>
        </p:spPr>
        <p:txBody>
          <a:bodyPr wrap="square" anchor="t" lIns="0" rIns="0" tIns="0" bIns="0">
            <a:spAutoFit/>
          </a:bodyPr>
          <a:lstStyle/>
          <a:p>
            <a:pPr algn="l">
              <a:spcAft>
                <a:spcPts val="400"/>
              </a:spcAft>
            </a:pPr>
            <a:r>
              <a:rPr sz="1350" b="1" i="0">
                <a:solidFill>
                  <a:srgbClr val="E8B44C"/>
                </a:solidFill>
                <a:latin typeface="Calibri"/>
              </a:rPr>
              <a:t>Pourquoi le polling plutôt que WebSocket ?</a:t>
            </a:r>
          </a:p>
          <a:p>
            <a:pPr algn="l">
              <a:spcAft>
                <a:spcPts val="400"/>
              </a:spcAft>
            </a:pPr>
            <a:r>
              <a:rPr sz="1250" b="0" i="0">
                <a:solidFill>
                  <a:srgbClr val="F2EEE3"/>
                </a:solidFill>
                <a:latin typeface="Calibri"/>
              </a:rPr>
              <a:t>GET /state toutes les 2 s (jamais sur le thread UI) : suffisant pour 4–10 joueurs, simple à débugger, et l'état complet renvoyé rend le client sans état côté serveur.</a:t>
            </a:r>
          </a:p>
        </p:txBody>
      </p:sp>
      <p:sp>
        <p:nvSpPr>
          <p:cNvPr id="16" name="TextBox 15"/>
          <p:cNvSpPr txBox="1"/>
          <p:nvPr/>
        </p:nvSpPr>
        <p:spPr>
          <a:xfrm>
            <a:off x="11475720" y="6473952"/>
            <a:ext cx="548640" cy="274320"/>
          </a:xfrm>
          <a:prstGeom prst="rect">
            <a:avLst/>
          </a:prstGeom>
          <a:noFill/>
        </p:spPr>
        <p:txBody>
          <a:bodyPr wrap="square" anchor="t" lIns="0" rIns="0" tIns="0" bIns="0">
            <a:spAutoFit/>
          </a:bodyPr>
          <a:lstStyle/>
          <a:p>
            <a:pPr algn="r">
              <a:spcAft>
                <a:spcPts val="400"/>
              </a:spcAft>
            </a:pPr>
            <a:r>
              <a:rPr sz="1000" b="0" i="0">
                <a:solidFill>
                  <a:srgbClr val="ABA4C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sp>
        <p:nvSpPr>
          <p:cNvPr id="2" name="TextBox 1"/>
          <p:cNvSpPr txBox="1"/>
          <p:nvPr/>
        </p:nvSpPr>
        <p:spPr>
          <a:xfrm>
            <a:off x="548640" y="292608"/>
            <a:ext cx="11064240" cy="685800"/>
          </a:xfrm>
          <a:prstGeom prst="rect">
            <a:avLst/>
          </a:prstGeom>
          <a:noFill/>
        </p:spPr>
        <p:txBody>
          <a:bodyPr wrap="square" anchor="t" lIns="0" rIns="0" tIns="0" bIns="0">
            <a:spAutoFit/>
          </a:bodyPr>
          <a:lstStyle/>
          <a:p>
            <a:pPr algn="l">
              <a:spcAft>
                <a:spcPts val="400"/>
              </a:spcAft>
            </a:pPr>
            <a:r>
              <a:rPr sz="3300" b="1" i="0">
                <a:solidFill>
                  <a:srgbClr val="E8B44C"/>
                </a:solidFill>
                <a:latin typeface="Cambria"/>
              </a:rPr>
              <a:t>Modèle de données</a:t>
            </a:r>
          </a:p>
        </p:txBody>
      </p:sp>
      <p:sp>
        <p:nvSpPr>
          <p:cNvPr id="3" name="TextBox 2"/>
          <p:cNvSpPr txBox="1"/>
          <p:nvPr/>
        </p:nvSpPr>
        <p:spPr>
          <a:xfrm>
            <a:off x="548640" y="896112"/>
            <a:ext cx="11064240" cy="365760"/>
          </a:xfrm>
          <a:prstGeom prst="rect">
            <a:avLst/>
          </a:prstGeom>
          <a:noFill/>
        </p:spPr>
        <p:txBody>
          <a:bodyPr wrap="square" anchor="t" lIns="0" rIns="0" tIns="0" bIns="0">
            <a:spAutoFit/>
          </a:bodyPr>
          <a:lstStyle/>
          <a:p>
            <a:pPr algn="l">
              <a:spcAft>
                <a:spcPts val="400"/>
              </a:spcAft>
            </a:pPr>
            <a:r>
              <a:rPr sz="1400" b="0" i="0">
                <a:solidFill>
                  <a:srgbClr val="ABA4C8"/>
                </a:solidFill>
                <a:latin typeface="Calibri"/>
              </a:rPr>
              <a:t>9 tables MySQL — schéma complet + migrations incrémentales</a:t>
            </a:r>
          </a:p>
        </p:txBody>
      </p:sp>
      <p:sp>
        <p:nvSpPr>
          <p:cNvPr id="4" name="Rounded Rectangle 3"/>
          <p:cNvSpPr/>
          <p:nvPr/>
        </p:nvSpPr>
        <p:spPr>
          <a:xfrm>
            <a:off x="548640" y="1508760"/>
            <a:ext cx="3657600" cy="466344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3200400" cy="365760"/>
          </a:xfrm>
          <a:prstGeom prst="rect">
            <a:avLst/>
          </a:prstGeom>
          <a:noFill/>
        </p:spPr>
        <p:txBody>
          <a:bodyPr wrap="square" anchor="t" lIns="0" rIns="0" tIns="0" bIns="0">
            <a:spAutoFit/>
          </a:bodyPr>
          <a:lstStyle/>
          <a:p>
            <a:pPr algn="l">
              <a:spcAft>
                <a:spcPts val="400"/>
              </a:spcAft>
            </a:pPr>
            <a:r>
              <a:rPr sz="1600" b="1" i="0">
                <a:solidFill>
                  <a:srgbClr val="E8B44C"/>
                </a:solidFill>
                <a:latin typeface="Cambria"/>
              </a:rPr>
              <a:t>Cœur du jeu</a:t>
            </a:r>
          </a:p>
        </p:txBody>
      </p:sp>
      <p:sp>
        <p:nvSpPr>
          <p:cNvPr id="6" name="TextBox 5"/>
          <p:cNvSpPr txBox="1"/>
          <p:nvPr/>
        </p:nvSpPr>
        <p:spPr>
          <a:xfrm>
            <a:off x="777240" y="2212848"/>
            <a:ext cx="3246120" cy="914400"/>
          </a:xfrm>
          <a:prstGeom prst="rect">
            <a:avLst/>
          </a:prstGeom>
          <a:noFill/>
        </p:spPr>
        <p:txBody>
          <a:bodyPr wrap="square" anchor="t" lIns="0" rIns="0" tIns="0" bIns="0">
            <a:spAutoFit/>
          </a:bodyPr>
          <a:lstStyle/>
          <a:p>
            <a:pPr algn="l">
              <a:spcAft>
                <a:spcPts val="400"/>
              </a:spcAft>
            </a:pPr>
            <a:r>
              <a:rPr sz="1300" b="1" i="0">
                <a:solidFill>
                  <a:srgbClr val="F2EEE3"/>
                </a:solidFill>
                <a:latin typeface="Calibri"/>
              </a:rPr>
              <a:t>game_sessions</a:t>
            </a:r>
          </a:p>
          <a:p>
            <a:pPr algn="l">
              <a:spcAft>
                <a:spcPts val="400"/>
              </a:spcAft>
            </a:pPr>
            <a:r>
              <a:rPr sz="1150" b="0" i="0">
                <a:solidFill>
                  <a:srgbClr val="ABA4C8"/>
                </a:solidFill>
                <a:latin typeface="Calibri"/>
              </a:rPr>
              <a:t>statut, phase, round, timer, capitaine en attente</a:t>
            </a:r>
          </a:p>
        </p:txBody>
      </p:sp>
      <p:sp>
        <p:nvSpPr>
          <p:cNvPr id="7" name="TextBox 6"/>
          <p:cNvSpPr txBox="1"/>
          <p:nvPr/>
        </p:nvSpPr>
        <p:spPr>
          <a:xfrm>
            <a:off x="777240" y="3145536"/>
            <a:ext cx="3246120" cy="914400"/>
          </a:xfrm>
          <a:prstGeom prst="rect">
            <a:avLst/>
          </a:prstGeom>
          <a:noFill/>
        </p:spPr>
        <p:txBody>
          <a:bodyPr wrap="square" anchor="t" lIns="0" rIns="0" tIns="0" bIns="0">
            <a:spAutoFit/>
          </a:bodyPr>
          <a:lstStyle/>
          <a:p>
            <a:pPr algn="l">
              <a:spcAft>
                <a:spcPts val="400"/>
              </a:spcAft>
            </a:pPr>
            <a:r>
              <a:rPr sz="1300" b="1" i="0">
                <a:solidFill>
                  <a:srgbClr val="F2EEE3"/>
                </a:solidFill>
                <a:latin typeface="Calibri"/>
              </a:rPr>
              <a:t>session_players</a:t>
            </a:r>
          </a:p>
          <a:p>
            <a:pPr algn="l">
              <a:spcAft>
                <a:spcPts val="400"/>
              </a:spcAft>
            </a:pPr>
            <a:r>
              <a:rPr sz="1150" b="0" i="0">
                <a:solidFill>
                  <a:srgbClr val="ABA4C8"/>
                </a:solidFill>
                <a:latin typeface="Calibri"/>
              </a:rPr>
              <a:t>rôle, vivant, hôte, capitaine, potions, ELO avant/après</a:t>
            </a:r>
          </a:p>
        </p:txBody>
      </p:sp>
      <p:sp>
        <p:nvSpPr>
          <p:cNvPr id="8" name="TextBox 7"/>
          <p:cNvSpPr txBox="1"/>
          <p:nvPr/>
        </p:nvSpPr>
        <p:spPr>
          <a:xfrm>
            <a:off x="777240" y="4078224"/>
            <a:ext cx="3246120" cy="914400"/>
          </a:xfrm>
          <a:prstGeom prst="rect">
            <a:avLst/>
          </a:prstGeom>
          <a:noFill/>
        </p:spPr>
        <p:txBody>
          <a:bodyPr wrap="square" anchor="t" lIns="0" rIns="0" tIns="0" bIns="0">
            <a:spAutoFit/>
          </a:bodyPr>
          <a:lstStyle/>
          <a:p>
            <a:pPr algn="l">
              <a:spcAft>
                <a:spcPts val="400"/>
              </a:spcAft>
            </a:pPr>
            <a:r>
              <a:rPr sz="1300" b="1" i="0">
                <a:solidFill>
                  <a:srgbClr val="F2EEE3"/>
                </a:solidFill>
                <a:latin typeface="Calibri"/>
              </a:rPr>
              <a:t>votes</a:t>
            </a:r>
          </a:p>
          <a:p>
            <a:pPr algn="l">
              <a:spcAft>
                <a:spcPts val="400"/>
              </a:spcAft>
            </a:pPr>
            <a:r>
              <a:rPr sz="1150" b="0" i="0">
                <a:solidFill>
                  <a:srgbClr val="ABA4C8"/>
                </a:solidFill>
                <a:latin typeface="Calibri"/>
              </a:rPr>
              <a:t>1 vote par (joueur, phase, round) — voix double du Capitaine</a:t>
            </a:r>
          </a:p>
        </p:txBody>
      </p:sp>
      <p:sp>
        <p:nvSpPr>
          <p:cNvPr id="9" name="TextBox 8"/>
          <p:cNvSpPr txBox="1"/>
          <p:nvPr/>
        </p:nvSpPr>
        <p:spPr>
          <a:xfrm>
            <a:off x="777240" y="5010912"/>
            <a:ext cx="3246120" cy="914400"/>
          </a:xfrm>
          <a:prstGeom prst="rect">
            <a:avLst/>
          </a:prstGeom>
          <a:noFill/>
        </p:spPr>
        <p:txBody>
          <a:bodyPr wrap="square" anchor="t" lIns="0" rIns="0" tIns="0" bIns="0">
            <a:spAutoFit/>
          </a:bodyPr>
          <a:lstStyle/>
          <a:p>
            <a:pPr algn="l">
              <a:spcAft>
                <a:spcPts val="400"/>
              </a:spcAft>
            </a:pPr>
            <a:r>
              <a:rPr sz="1300" b="1" i="0">
                <a:solidFill>
                  <a:srgbClr val="F2EEE3"/>
                </a:solidFill>
                <a:latin typeface="Calibri"/>
              </a:rPr>
              <a:t>night_actions</a:t>
            </a:r>
          </a:p>
          <a:p>
            <a:pPr algn="l">
              <a:spcAft>
                <a:spcPts val="400"/>
              </a:spcAft>
            </a:pPr>
            <a:r>
              <a:rPr sz="1150" b="0" i="0">
                <a:solidFill>
                  <a:srgbClr val="ABA4C8"/>
                </a:solidFill>
                <a:latin typeface="Calibri"/>
              </a:rPr>
              <a:t>Voyante, Sorcière, Chasseur, pass</a:t>
            </a:r>
          </a:p>
        </p:txBody>
      </p:sp>
      <p:sp>
        <p:nvSpPr>
          <p:cNvPr id="10" name="Rounded Rectangle 9"/>
          <p:cNvSpPr/>
          <p:nvPr/>
        </p:nvSpPr>
        <p:spPr>
          <a:xfrm>
            <a:off x="4407407" y="1508760"/>
            <a:ext cx="3657600" cy="466344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7" y="1691640"/>
            <a:ext cx="3200400" cy="365760"/>
          </a:xfrm>
          <a:prstGeom prst="rect">
            <a:avLst/>
          </a:prstGeom>
          <a:noFill/>
        </p:spPr>
        <p:txBody>
          <a:bodyPr wrap="square" anchor="t" lIns="0" rIns="0" tIns="0" bIns="0">
            <a:spAutoFit/>
          </a:bodyPr>
          <a:lstStyle/>
          <a:p>
            <a:pPr algn="l">
              <a:spcAft>
                <a:spcPts val="400"/>
              </a:spcAft>
            </a:pPr>
            <a:r>
              <a:rPr sz="1600" b="1" i="0">
                <a:solidFill>
                  <a:srgbClr val="E05250"/>
                </a:solidFill>
                <a:latin typeface="Cambria"/>
              </a:rPr>
              <a:t>Joueurs &amp; social</a:t>
            </a:r>
          </a:p>
        </p:txBody>
      </p:sp>
      <p:sp>
        <p:nvSpPr>
          <p:cNvPr id="12" name="TextBox 11"/>
          <p:cNvSpPr txBox="1"/>
          <p:nvPr/>
        </p:nvSpPr>
        <p:spPr>
          <a:xfrm>
            <a:off x="4636007" y="2212848"/>
            <a:ext cx="3246120" cy="914400"/>
          </a:xfrm>
          <a:prstGeom prst="rect">
            <a:avLst/>
          </a:prstGeom>
          <a:noFill/>
        </p:spPr>
        <p:txBody>
          <a:bodyPr wrap="square" anchor="t" lIns="0" rIns="0" tIns="0" bIns="0">
            <a:spAutoFit/>
          </a:bodyPr>
          <a:lstStyle/>
          <a:p>
            <a:pPr algn="l">
              <a:spcAft>
                <a:spcPts val="400"/>
              </a:spcAft>
            </a:pPr>
            <a:r>
              <a:rPr sz="1300" b="1" i="0">
                <a:solidFill>
                  <a:srgbClr val="F2EEE3"/>
                </a:solidFill>
                <a:latin typeface="Calibri"/>
              </a:rPr>
              <a:t>players</a:t>
            </a:r>
          </a:p>
          <a:p>
            <a:pPr algn="l">
              <a:spcAft>
                <a:spcPts val="400"/>
              </a:spcAft>
            </a:pPr>
            <a:r>
              <a:rPr sz="1150" b="0" i="0">
                <a:solidFill>
                  <a:srgbClr val="ABA4C8"/>
                </a:solidFill>
                <a:latin typeface="Calibri"/>
              </a:rPr>
              <a:t>compte, token Bearer, ELO, stats, avatar, flag bot</a:t>
            </a:r>
          </a:p>
        </p:txBody>
      </p:sp>
      <p:sp>
        <p:nvSpPr>
          <p:cNvPr id="13" name="TextBox 12"/>
          <p:cNvSpPr txBox="1"/>
          <p:nvPr/>
        </p:nvSpPr>
        <p:spPr>
          <a:xfrm>
            <a:off x="4636007" y="3145536"/>
            <a:ext cx="3246120" cy="914400"/>
          </a:xfrm>
          <a:prstGeom prst="rect">
            <a:avLst/>
          </a:prstGeom>
          <a:noFill/>
        </p:spPr>
        <p:txBody>
          <a:bodyPr wrap="square" anchor="t" lIns="0" rIns="0" tIns="0" bIns="0">
            <a:spAutoFit/>
          </a:bodyPr>
          <a:lstStyle/>
          <a:p>
            <a:pPr algn="l">
              <a:spcAft>
                <a:spcPts val="400"/>
              </a:spcAft>
            </a:pPr>
            <a:r>
              <a:rPr sz="1300" b="1" i="0">
                <a:solidFill>
                  <a:srgbClr val="F2EEE3"/>
                </a:solidFill>
                <a:latin typeface="Calibri"/>
              </a:rPr>
              <a:t>friendships</a:t>
            </a:r>
          </a:p>
          <a:p>
            <a:pPr algn="l">
              <a:spcAft>
                <a:spcPts val="400"/>
              </a:spcAft>
            </a:pPr>
            <a:r>
              <a:rPr sz="1150" b="0" i="0">
                <a:solidFill>
                  <a:srgbClr val="ABA4C8"/>
                </a:solidFill>
                <a:latin typeface="Calibri"/>
              </a:rPr>
              <a:t>demandes et liens d'amitié</a:t>
            </a:r>
          </a:p>
        </p:txBody>
      </p:sp>
      <p:sp>
        <p:nvSpPr>
          <p:cNvPr id="14" name="TextBox 13"/>
          <p:cNvSpPr txBox="1"/>
          <p:nvPr/>
        </p:nvSpPr>
        <p:spPr>
          <a:xfrm>
            <a:off x="4636007" y="4078224"/>
            <a:ext cx="3246120" cy="914400"/>
          </a:xfrm>
          <a:prstGeom prst="rect">
            <a:avLst/>
          </a:prstGeom>
          <a:noFill/>
        </p:spPr>
        <p:txBody>
          <a:bodyPr wrap="square" anchor="t" lIns="0" rIns="0" tIns="0" bIns="0">
            <a:spAutoFit/>
          </a:bodyPr>
          <a:lstStyle/>
          <a:p>
            <a:pPr algn="l">
              <a:spcAft>
                <a:spcPts val="400"/>
              </a:spcAft>
            </a:pPr>
            <a:r>
              <a:rPr sz="1300" b="1" i="0">
                <a:solidFill>
                  <a:srgbClr val="F2EEE3"/>
                </a:solidFill>
                <a:latin typeface="Calibri"/>
              </a:rPr>
              <a:t>game_invitations</a:t>
            </a:r>
          </a:p>
          <a:p>
            <a:pPr algn="l">
              <a:spcAft>
                <a:spcPts val="400"/>
              </a:spcAft>
            </a:pPr>
            <a:r>
              <a:rPr sz="1150" b="0" i="0">
                <a:solidFill>
                  <a:srgbClr val="ABA4C8"/>
                </a:solidFill>
                <a:latin typeface="Calibri"/>
              </a:rPr>
              <a:t>inviter un ami dans sa partie</a:t>
            </a:r>
          </a:p>
        </p:txBody>
      </p:sp>
      <p:sp>
        <p:nvSpPr>
          <p:cNvPr id="15" name="Rounded Rectangle 14"/>
          <p:cNvSpPr/>
          <p:nvPr/>
        </p:nvSpPr>
        <p:spPr>
          <a:xfrm>
            <a:off x="8266175" y="1508760"/>
            <a:ext cx="3657600" cy="466344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94776" y="1691640"/>
            <a:ext cx="3200400" cy="365760"/>
          </a:xfrm>
          <a:prstGeom prst="rect">
            <a:avLst/>
          </a:prstGeom>
          <a:noFill/>
        </p:spPr>
        <p:txBody>
          <a:bodyPr wrap="square" anchor="t" lIns="0" rIns="0" tIns="0" bIns="0">
            <a:spAutoFit/>
          </a:bodyPr>
          <a:lstStyle/>
          <a:p>
            <a:pPr algn="l">
              <a:spcAft>
                <a:spcPts val="400"/>
              </a:spcAft>
            </a:pPr>
            <a:r>
              <a:rPr sz="1600" b="1" i="0">
                <a:solidFill>
                  <a:srgbClr val="ABA4C8"/>
                </a:solidFill>
                <a:latin typeface="Cambria"/>
              </a:rPr>
              <a:t>Événements</a:t>
            </a:r>
          </a:p>
        </p:txBody>
      </p:sp>
      <p:sp>
        <p:nvSpPr>
          <p:cNvPr id="17" name="TextBox 16"/>
          <p:cNvSpPr txBox="1"/>
          <p:nvPr/>
        </p:nvSpPr>
        <p:spPr>
          <a:xfrm>
            <a:off x="8494776" y="2212848"/>
            <a:ext cx="3246120" cy="914400"/>
          </a:xfrm>
          <a:prstGeom prst="rect">
            <a:avLst/>
          </a:prstGeom>
          <a:noFill/>
        </p:spPr>
        <p:txBody>
          <a:bodyPr wrap="square" anchor="t" lIns="0" rIns="0" tIns="0" bIns="0">
            <a:spAutoFit/>
          </a:bodyPr>
          <a:lstStyle/>
          <a:p>
            <a:pPr algn="l">
              <a:spcAft>
                <a:spcPts val="400"/>
              </a:spcAft>
            </a:pPr>
            <a:r>
              <a:rPr sz="1300" b="1" i="0">
                <a:solidFill>
                  <a:srgbClr val="F2EEE3"/>
                </a:solidFill>
                <a:latin typeface="Calibri"/>
              </a:rPr>
              <a:t>game_logs</a:t>
            </a:r>
          </a:p>
          <a:p>
            <a:pPr algn="l">
              <a:spcAft>
                <a:spcPts val="400"/>
              </a:spcAft>
            </a:pPr>
            <a:r>
              <a:rPr sz="1150" b="0" i="0">
                <a:solidFill>
                  <a:srgbClr val="ABA4C8"/>
                </a:solidFill>
                <a:latin typeface="Calibri"/>
              </a:rPr>
              <a:t>journal — visibilité ALL / WEREWOLVES / SELF</a:t>
            </a:r>
          </a:p>
        </p:txBody>
      </p:sp>
      <p:sp>
        <p:nvSpPr>
          <p:cNvPr id="18" name="TextBox 17"/>
          <p:cNvSpPr txBox="1"/>
          <p:nvPr/>
        </p:nvSpPr>
        <p:spPr>
          <a:xfrm>
            <a:off x="8494776" y="3145536"/>
            <a:ext cx="3246120" cy="914400"/>
          </a:xfrm>
          <a:prstGeom prst="rect">
            <a:avLst/>
          </a:prstGeom>
          <a:noFill/>
        </p:spPr>
        <p:txBody>
          <a:bodyPr wrap="square" anchor="t" lIns="0" rIns="0" tIns="0" bIns="0">
            <a:spAutoFit/>
          </a:bodyPr>
          <a:lstStyle/>
          <a:p>
            <a:pPr algn="l">
              <a:spcAft>
                <a:spcPts val="400"/>
              </a:spcAft>
            </a:pPr>
            <a:r>
              <a:rPr sz="1300" b="1" i="0">
                <a:solidFill>
                  <a:srgbClr val="F2EEE3"/>
                </a:solidFill>
                <a:latin typeface="Calibri"/>
              </a:rPr>
              <a:t>chat_messages</a:t>
            </a:r>
          </a:p>
          <a:p>
            <a:pPr algn="l">
              <a:spcAft>
                <a:spcPts val="400"/>
              </a:spcAft>
            </a:pPr>
            <a:r>
              <a:rPr sz="1150" b="0" i="0">
                <a:solidFill>
                  <a:srgbClr val="ABA4C8"/>
                </a:solidFill>
                <a:latin typeface="Calibri"/>
              </a:rPr>
              <a:t>chat scopé village / loups</a:t>
            </a:r>
          </a:p>
        </p:txBody>
      </p:sp>
      <p:sp>
        <p:nvSpPr>
          <p:cNvPr id="19" name="TextBox 18"/>
          <p:cNvSpPr txBox="1"/>
          <p:nvPr/>
        </p:nvSpPr>
        <p:spPr>
          <a:xfrm>
            <a:off x="548640" y="6355080"/>
            <a:ext cx="11064240" cy="365760"/>
          </a:xfrm>
          <a:prstGeom prst="rect">
            <a:avLst/>
          </a:prstGeom>
          <a:noFill/>
        </p:spPr>
        <p:txBody>
          <a:bodyPr wrap="square" anchor="t" lIns="0" rIns="0" tIns="0" bIns="0">
            <a:spAutoFit/>
          </a:bodyPr>
          <a:lstStyle/>
          <a:p>
            <a:pPr algn="l">
              <a:spcAft>
                <a:spcPts val="400"/>
              </a:spcAft>
            </a:pPr>
            <a:r>
              <a:rPr sz="1200" b="0" i="1">
                <a:solidFill>
                  <a:srgbClr val="ABA4C8"/>
                </a:solidFill>
                <a:latin typeface="Calibri"/>
              </a:rPr>
              <a:t>Visibilité des rôles côté SQL : masqués tant que vivant, révélés aux morts, à la fin, et à soi-même.</a:t>
            </a:r>
          </a:p>
        </p:txBody>
      </p:sp>
      <p:sp>
        <p:nvSpPr>
          <p:cNvPr id="20" name="TextBox 19"/>
          <p:cNvSpPr txBox="1"/>
          <p:nvPr/>
        </p:nvSpPr>
        <p:spPr>
          <a:xfrm>
            <a:off x="11475720" y="6473952"/>
            <a:ext cx="548640" cy="274320"/>
          </a:xfrm>
          <a:prstGeom prst="rect">
            <a:avLst/>
          </a:prstGeom>
          <a:noFill/>
        </p:spPr>
        <p:txBody>
          <a:bodyPr wrap="square" anchor="t" lIns="0" rIns="0" tIns="0" bIns="0">
            <a:spAutoFit/>
          </a:bodyPr>
          <a:lstStyle/>
          <a:p>
            <a:pPr algn="r">
              <a:spcAft>
                <a:spcPts val="400"/>
              </a:spcAft>
            </a:pPr>
            <a:r>
              <a:rPr sz="1000" b="0" i="0">
                <a:solidFill>
                  <a:srgbClr val="ABA4C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sp>
        <p:nvSpPr>
          <p:cNvPr id="2" name="TextBox 1"/>
          <p:cNvSpPr txBox="1"/>
          <p:nvPr/>
        </p:nvSpPr>
        <p:spPr>
          <a:xfrm>
            <a:off x="548640" y="292608"/>
            <a:ext cx="11064240" cy="685800"/>
          </a:xfrm>
          <a:prstGeom prst="rect">
            <a:avLst/>
          </a:prstGeom>
          <a:noFill/>
        </p:spPr>
        <p:txBody>
          <a:bodyPr wrap="square" anchor="t" lIns="0" rIns="0" tIns="0" bIns="0">
            <a:spAutoFit/>
          </a:bodyPr>
          <a:lstStyle/>
          <a:p>
            <a:pPr algn="l">
              <a:spcAft>
                <a:spcPts val="400"/>
              </a:spcAft>
            </a:pPr>
            <a:r>
              <a:rPr sz="3300" b="1" i="0">
                <a:solidFill>
                  <a:srgbClr val="E8B44C"/>
                </a:solidFill>
                <a:latin typeface="Cambria"/>
              </a:rPr>
              <a:t>La machine à états</a:t>
            </a:r>
          </a:p>
        </p:txBody>
      </p:sp>
      <p:sp>
        <p:nvSpPr>
          <p:cNvPr id="3" name="TextBox 2"/>
          <p:cNvSpPr txBox="1"/>
          <p:nvPr/>
        </p:nvSpPr>
        <p:spPr>
          <a:xfrm>
            <a:off x="548640" y="896112"/>
            <a:ext cx="11064240" cy="365760"/>
          </a:xfrm>
          <a:prstGeom prst="rect">
            <a:avLst/>
          </a:prstGeom>
          <a:noFill/>
        </p:spPr>
        <p:txBody>
          <a:bodyPr wrap="square" anchor="t" lIns="0" rIns="0" tIns="0" bIns="0">
            <a:spAutoFit/>
          </a:bodyPr>
          <a:lstStyle/>
          <a:p>
            <a:pPr algn="l">
              <a:spcAft>
                <a:spcPts val="400"/>
              </a:spcAft>
            </a:pPr>
            <a:r>
              <a:rPr sz="1400" b="0" i="0">
                <a:solidFill>
                  <a:srgbClr val="ABA4C8"/>
                </a:solidFill>
                <a:latin typeface="Calibri"/>
              </a:rPr>
              <a:t>Le serveur est l'arbitre : le client ne fait qu'afficher et proposer des actions</a:t>
            </a:r>
          </a:p>
        </p:txBody>
      </p:sp>
      <p:sp>
        <p:nvSpPr>
          <p:cNvPr id="4" name="Rounded Rectangle 3"/>
          <p:cNvSpPr/>
          <p:nvPr/>
        </p:nvSpPr>
        <p:spPr>
          <a:xfrm>
            <a:off x="548640" y="1554480"/>
            <a:ext cx="2514600" cy="1554480"/>
          </a:xfrm>
          <a:prstGeom prst="roundRect">
            <a:avLst>
              <a:gd name="adj" fmla="val 7000"/>
            </a:avLst>
          </a:prstGeom>
          <a:solidFill>
            <a:srgbClr val="24204A"/>
          </a:solidFill>
          <a:ln w="12700">
            <a:solidFill>
              <a:srgbClr val="4A44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700784"/>
            <a:ext cx="2185416" cy="1280160"/>
          </a:xfrm>
          <a:prstGeom prst="rect">
            <a:avLst/>
          </a:prstGeom>
          <a:noFill/>
        </p:spPr>
        <p:txBody>
          <a:bodyPr wrap="square" anchor="t" lIns="0" rIns="0" tIns="0" bIns="0">
            <a:spAutoFit/>
          </a:bodyPr>
          <a:lstStyle/>
          <a:p>
            <a:pPr algn="l">
              <a:spcAft>
                <a:spcPts val="400"/>
              </a:spcAft>
            </a:pPr>
            <a:r>
              <a:rPr sz="1450" b="1" i="0">
                <a:solidFill>
                  <a:srgbClr val="E8B44C"/>
                </a:solidFill>
                <a:latin typeface="Calibri"/>
              </a:rPr>
              <a:t>🐺  Loups</a:t>
            </a:r>
          </a:p>
          <a:p>
            <a:pPr algn="l">
              <a:spcAft>
                <a:spcPts val="400"/>
              </a:spcAft>
            </a:pPr>
            <a:r>
              <a:rPr sz="1150" b="0" i="0">
                <a:solidFill>
                  <a:srgbClr val="F2EEE3"/>
                </a:solidFill>
                <a:latin typeface="Calibri"/>
              </a:rPr>
              <a:t>votent une victime
(majorité)</a:t>
            </a:r>
          </a:p>
        </p:txBody>
      </p:sp>
      <p:sp>
        <p:nvSpPr>
          <p:cNvPr id="6" name="Right Arrow 5"/>
          <p:cNvSpPr/>
          <p:nvPr/>
        </p:nvSpPr>
        <p:spPr>
          <a:xfrm>
            <a:off x="3099816" y="2176272"/>
            <a:ext cx="384048" cy="274320"/>
          </a:xfrm>
          <a:prstGeom prst="rightArrow">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74720" y="1554480"/>
            <a:ext cx="2514600" cy="1554480"/>
          </a:xfrm>
          <a:prstGeom prst="roundRect">
            <a:avLst>
              <a:gd name="adj" fmla="val 7000"/>
            </a:avLst>
          </a:prstGeom>
          <a:solidFill>
            <a:srgbClr val="24204A"/>
          </a:solidFill>
          <a:ln w="12700">
            <a:solidFill>
              <a:srgbClr val="4A44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39312" y="1700784"/>
            <a:ext cx="2185416" cy="1280160"/>
          </a:xfrm>
          <a:prstGeom prst="rect">
            <a:avLst/>
          </a:prstGeom>
          <a:noFill/>
        </p:spPr>
        <p:txBody>
          <a:bodyPr wrap="square" anchor="t" lIns="0" rIns="0" tIns="0" bIns="0">
            <a:spAutoFit/>
          </a:bodyPr>
          <a:lstStyle/>
          <a:p>
            <a:pPr algn="l">
              <a:spcAft>
                <a:spcPts val="400"/>
              </a:spcAft>
            </a:pPr>
            <a:r>
              <a:rPr sz="1450" b="1" i="0">
                <a:solidFill>
                  <a:srgbClr val="E8B44C"/>
                </a:solidFill>
                <a:latin typeface="Calibri"/>
              </a:rPr>
              <a:t>🔮  Voyante</a:t>
            </a:r>
          </a:p>
          <a:p>
            <a:pPr algn="l">
              <a:spcAft>
                <a:spcPts val="400"/>
              </a:spcAft>
            </a:pPr>
            <a:r>
              <a:rPr sz="1150" b="0" i="0">
                <a:solidFill>
                  <a:srgbClr val="F2EEE3"/>
                </a:solidFill>
                <a:latin typeface="Calibri"/>
              </a:rPr>
              <a:t>sonde le rôle
d'un joueur</a:t>
            </a:r>
          </a:p>
        </p:txBody>
      </p:sp>
      <p:sp>
        <p:nvSpPr>
          <p:cNvPr id="9" name="Right Arrow 8"/>
          <p:cNvSpPr/>
          <p:nvPr/>
        </p:nvSpPr>
        <p:spPr>
          <a:xfrm>
            <a:off x="6025896" y="2176272"/>
            <a:ext cx="384048" cy="274320"/>
          </a:xfrm>
          <a:prstGeom prst="rightArrow">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0" y="1554480"/>
            <a:ext cx="2514600" cy="1554480"/>
          </a:xfrm>
          <a:prstGeom prst="roundRect">
            <a:avLst>
              <a:gd name="adj" fmla="val 7000"/>
            </a:avLst>
          </a:prstGeom>
          <a:solidFill>
            <a:srgbClr val="24204A"/>
          </a:solidFill>
          <a:ln w="12700">
            <a:solidFill>
              <a:srgbClr val="4A44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1700784"/>
            <a:ext cx="2185416" cy="1280160"/>
          </a:xfrm>
          <a:prstGeom prst="rect">
            <a:avLst/>
          </a:prstGeom>
          <a:noFill/>
        </p:spPr>
        <p:txBody>
          <a:bodyPr wrap="square" anchor="t" lIns="0" rIns="0" tIns="0" bIns="0">
            <a:spAutoFit/>
          </a:bodyPr>
          <a:lstStyle/>
          <a:p>
            <a:pPr algn="l">
              <a:spcAft>
                <a:spcPts val="400"/>
              </a:spcAft>
            </a:pPr>
            <a:r>
              <a:rPr sz="1450" b="1" i="0">
                <a:solidFill>
                  <a:srgbClr val="E8B44C"/>
                </a:solidFill>
                <a:latin typeface="Calibri"/>
              </a:rPr>
              <a:t>🧪  Sorcière</a:t>
            </a:r>
          </a:p>
          <a:p>
            <a:pPr algn="l">
              <a:spcAft>
                <a:spcPts val="400"/>
              </a:spcAft>
            </a:pPr>
            <a:r>
              <a:rPr sz="1150" b="0" i="0">
                <a:solidFill>
                  <a:srgbClr val="F2EEE3"/>
                </a:solidFill>
                <a:latin typeface="Calibri"/>
              </a:rPr>
              <a:t>potion de vie
ou de mort</a:t>
            </a:r>
          </a:p>
        </p:txBody>
      </p:sp>
      <p:sp>
        <p:nvSpPr>
          <p:cNvPr id="12" name="Right Arrow 11"/>
          <p:cNvSpPr/>
          <p:nvPr/>
        </p:nvSpPr>
        <p:spPr>
          <a:xfrm>
            <a:off x="8951976" y="2176272"/>
            <a:ext cx="384048" cy="274320"/>
          </a:xfrm>
          <a:prstGeom prst="rightArrow">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326880" y="1554480"/>
            <a:ext cx="2514600" cy="1554480"/>
          </a:xfrm>
          <a:prstGeom prst="roundRect">
            <a:avLst>
              <a:gd name="adj" fmla="val 7000"/>
            </a:avLst>
          </a:prstGeom>
          <a:solidFill>
            <a:srgbClr val="24204A"/>
          </a:solidFill>
          <a:ln w="12700">
            <a:solidFill>
              <a:srgbClr val="4A44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91472" y="1700784"/>
            <a:ext cx="2185416" cy="1280160"/>
          </a:xfrm>
          <a:prstGeom prst="rect">
            <a:avLst/>
          </a:prstGeom>
          <a:noFill/>
        </p:spPr>
        <p:txBody>
          <a:bodyPr wrap="square" anchor="t" lIns="0" rIns="0" tIns="0" bIns="0">
            <a:spAutoFit/>
          </a:bodyPr>
          <a:lstStyle/>
          <a:p>
            <a:pPr algn="l">
              <a:spcAft>
                <a:spcPts val="400"/>
              </a:spcAft>
            </a:pPr>
            <a:r>
              <a:rPr sz="1450" b="1" i="0">
                <a:solidFill>
                  <a:srgbClr val="E8B44C"/>
                </a:solidFill>
                <a:latin typeface="Calibri"/>
              </a:rPr>
              <a:t>⚖  Résolution</a:t>
            </a:r>
          </a:p>
          <a:p>
            <a:pPr algn="l">
              <a:spcAft>
                <a:spcPts val="400"/>
              </a:spcAft>
            </a:pPr>
            <a:r>
              <a:rPr sz="1150" b="0" i="0">
                <a:solidFill>
                  <a:srgbClr val="F2EEE3"/>
                </a:solidFill>
                <a:latin typeface="Calibri"/>
              </a:rPr>
              <a:t>morts annoncés
+ vérif victoire</a:t>
            </a:r>
          </a:p>
        </p:txBody>
      </p:sp>
      <p:sp>
        <p:nvSpPr>
          <p:cNvPr id="15" name="TextBox 14"/>
          <p:cNvSpPr txBox="1"/>
          <p:nvPr/>
        </p:nvSpPr>
        <p:spPr>
          <a:xfrm>
            <a:off x="548640" y="1298448"/>
            <a:ext cx="2743200" cy="274320"/>
          </a:xfrm>
          <a:prstGeom prst="rect">
            <a:avLst/>
          </a:prstGeom>
          <a:noFill/>
        </p:spPr>
        <p:txBody>
          <a:bodyPr wrap="square" anchor="t" lIns="0" rIns="0" tIns="0" bIns="0">
            <a:spAutoFit/>
          </a:bodyPr>
          <a:lstStyle/>
          <a:p>
            <a:pPr algn="l">
              <a:spcAft>
                <a:spcPts val="400"/>
              </a:spcAft>
            </a:pPr>
            <a:r>
              <a:rPr sz="1200" b="1" i="0">
                <a:solidFill>
                  <a:srgbClr val="ABA4C8"/>
                </a:solidFill>
                <a:latin typeface="Calibri"/>
              </a:rPr>
              <a:t>NUIT — 45 s</a:t>
            </a:r>
          </a:p>
        </p:txBody>
      </p:sp>
      <p:sp>
        <p:nvSpPr>
          <p:cNvPr id="16" name="Rounded Rectangle 15"/>
          <p:cNvSpPr/>
          <p:nvPr/>
        </p:nvSpPr>
        <p:spPr>
          <a:xfrm>
            <a:off x="548640" y="3794760"/>
            <a:ext cx="3931920" cy="1554480"/>
          </a:xfrm>
          <a:prstGeom prst="roundRect">
            <a:avLst>
              <a:gd name="adj" fmla="val 7000"/>
            </a:avLst>
          </a:prstGeom>
          <a:solidFill>
            <a:srgbClr val="24204A"/>
          </a:solidFill>
          <a:ln w="12700">
            <a:solidFill>
              <a:srgbClr val="6B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41064"/>
            <a:ext cx="3602736" cy="1280160"/>
          </a:xfrm>
          <a:prstGeom prst="rect">
            <a:avLst/>
          </a:prstGeom>
          <a:noFill/>
        </p:spPr>
        <p:txBody>
          <a:bodyPr wrap="square" anchor="t" lIns="0" rIns="0" tIns="0" bIns="0">
            <a:spAutoFit/>
          </a:bodyPr>
          <a:lstStyle/>
          <a:p>
            <a:pPr algn="l">
              <a:spcAft>
                <a:spcPts val="400"/>
              </a:spcAft>
            </a:pPr>
            <a:r>
              <a:rPr sz="1450" b="1" i="0">
                <a:solidFill>
                  <a:srgbClr val="E8B44C"/>
                </a:solidFill>
                <a:latin typeface="Calibri"/>
              </a:rPr>
              <a:t>🗳  Vote du village</a:t>
            </a:r>
          </a:p>
          <a:p>
            <a:pPr algn="l">
              <a:spcAft>
                <a:spcPts val="400"/>
              </a:spcAft>
            </a:pPr>
            <a:r>
              <a:rPr sz="1150" b="0" i="0">
                <a:solidFill>
                  <a:srgbClr val="F2EEE3"/>
                </a:solidFill>
                <a:latin typeface="Calibri"/>
              </a:rPr>
              <a:t>décompte en direct,
voix double du Capitaine 🎖</a:t>
            </a:r>
          </a:p>
        </p:txBody>
      </p:sp>
      <p:sp>
        <p:nvSpPr>
          <p:cNvPr id="18" name="Rounded Rectangle 17"/>
          <p:cNvSpPr/>
          <p:nvPr/>
        </p:nvSpPr>
        <p:spPr>
          <a:xfrm>
            <a:off x="4892040" y="3794760"/>
            <a:ext cx="3931920" cy="1554480"/>
          </a:xfrm>
          <a:prstGeom prst="roundRect">
            <a:avLst>
              <a:gd name="adj" fmla="val 7000"/>
            </a:avLst>
          </a:prstGeom>
          <a:solidFill>
            <a:srgbClr val="24204A"/>
          </a:solidFill>
          <a:ln w="12700">
            <a:solidFill>
              <a:srgbClr val="6B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56631" y="3941064"/>
            <a:ext cx="3602736" cy="1280160"/>
          </a:xfrm>
          <a:prstGeom prst="rect">
            <a:avLst/>
          </a:prstGeom>
          <a:noFill/>
        </p:spPr>
        <p:txBody>
          <a:bodyPr wrap="square" anchor="t" lIns="0" rIns="0" tIns="0" bIns="0">
            <a:spAutoFit/>
          </a:bodyPr>
          <a:lstStyle/>
          <a:p>
            <a:pPr algn="l">
              <a:spcAft>
                <a:spcPts val="400"/>
              </a:spcAft>
            </a:pPr>
            <a:r>
              <a:rPr sz="1450" b="1" i="0">
                <a:solidFill>
                  <a:srgbClr val="E8B44C"/>
                </a:solidFill>
                <a:latin typeface="Calibri"/>
              </a:rPr>
              <a:t>⚖  Résolution du jour</a:t>
            </a:r>
          </a:p>
          <a:p>
            <a:pPr algn="l">
              <a:spcAft>
                <a:spcPts val="400"/>
              </a:spcAft>
            </a:pPr>
            <a:r>
              <a:rPr sz="1150" b="0" i="0">
                <a:solidFill>
                  <a:srgbClr val="F2EEE3"/>
                </a:solidFill>
                <a:latin typeface="Calibri"/>
              </a:rPr>
              <a:t>lynchage (ou égalité),
vérif victoire → nuit suivante</a:t>
            </a:r>
          </a:p>
        </p:txBody>
      </p:sp>
      <p:sp>
        <p:nvSpPr>
          <p:cNvPr id="20" name="Right Arrow 19"/>
          <p:cNvSpPr/>
          <p:nvPr/>
        </p:nvSpPr>
        <p:spPr>
          <a:xfrm>
            <a:off x="4590288" y="4416552"/>
            <a:ext cx="384048" cy="274320"/>
          </a:xfrm>
          <a:prstGeom prst="rightArrow">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538728"/>
            <a:ext cx="2743200" cy="274320"/>
          </a:xfrm>
          <a:prstGeom prst="rect">
            <a:avLst/>
          </a:prstGeom>
          <a:noFill/>
        </p:spPr>
        <p:txBody>
          <a:bodyPr wrap="square" anchor="t" lIns="0" rIns="0" tIns="0" bIns="0">
            <a:spAutoFit/>
          </a:bodyPr>
          <a:lstStyle/>
          <a:p>
            <a:pPr algn="l">
              <a:spcAft>
                <a:spcPts val="400"/>
              </a:spcAft>
            </a:pPr>
            <a:r>
              <a:rPr sz="1200" b="1" i="0">
                <a:solidFill>
                  <a:srgbClr val="ABA4C8"/>
                </a:solidFill>
                <a:latin typeface="Calibri"/>
              </a:rPr>
              <a:t>JOUR — 60 s</a:t>
            </a:r>
          </a:p>
        </p:txBody>
      </p:sp>
      <p:sp>
        <p:nvSpPr>
          <p:cNvPr id="22" name="Rounded Rectangle 21"/>
          <p:cNvSpPr/>
          <p:nvPr/>
        </p:nvSpPr>
        <p:spPr>
          <a:xfrm>
            <a:off x="8961120" y="3794760"/>
            <a:ext cx="2697480" cy="1554480"/>
          </a:xfrm>
          <a:prstGeom prst="roundRect">
            <a:avLst>
              <a:gd name="adj" fmla="val 7000"/>
            </a:avLst>
          </a:prstGeom>
          <a:solidFill>
            <a:srgbClr val="2D285A"/>
          </a:solidFill>
          <a:ln w="12700">
            <a:solidFill>
              <a:srgbClr val="E052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0" y="3941064"/>
            <a:ext cx="2331720" cy="1280160"/>
          </a:xfrm>
          <a:prstGeom prst="rect">
            <a:avLst/>
          </a:prstGeom>
          <a:noFill/>
        </p:spPr>
        <p:txBody>
          <a:bodyPr wrap="square" anchor="t" lIns="0" rIns="0" tIns="0" bIns="0">
            <a:spAutoFit/>
          </a:bodyPr>
          <a:lstStyle/>
          <a:p>
            <a:pPr algn="l">
              <a:spcAft>
                <a:spcPts val="400"/>
              </a:spcAft>
            </a:pPr>
            <a:r>
              <a:rPr sz="1350" b="1" i="0">
                <a:solidFill>
                  <a:srgbClr val="E05250"/>
                </a:solidFill>
                <a:latin typeface="Calibri"/>
              </a:rPr>
              <a:t>🏹  Pause Chasseur</a:t>
            </a:r>
          </a:p>
          <a:p>
            <a:pPr algn="l">
              <a:spcAft>
                <a:spcPts val="400"/>
              </a:spcAft>
            </a:pPr>
            <a:r>
              <a:rPr sz="1150" b="0" i="0">
                <a:solidFill>
                  <a:srgbClr val="F2EEE3"/>
                </a:solidFill>
                <a:latin typeface="Calibri"/>
              </a:rPr>
              <a:t>s'il meurt, la partie se fige 30 s : il choisit qui emporter</a:t>
            </a:r>
          </a:p>
        </p:txBody>
      </p:sp>
      <p:sp>
        <p:nvSpPr>
          <p:cNvPr id="24" name="Rounded Rectangle 23"/>
          <p:cNvSpPr/>
          <p:nvPr/>
        </p:nvSpPr>
        <p:spPr>
          <a:xfrm>
            <a:off x="548640" y="5669280"/>
            <a:ext cx="11091672" cy="868680"/>
          </a:xfrm>
          <a:prstGeom prst="roundRect">
            <a:avLst>
              <a:gd name="adj" fmla="val 7000"/>
            </a:avLst>
          </a:prstGeom>
          <a:solidFill>
            <a:srgbClr val="2D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815584"/>
            <a:ext cx="10607040" cy="640080"/>
          </a:xfrm>
          <a:prstGeom prst="rect">
            <a:avLst/>
          </a:prstGeom>
          <a:noFill/>
        </p:spPr>
        <p:txBody>
          <a:bodyPr wrap="square" anchor="t" lIns="0" rIns="0" tIns="0" bIns="0">
            <a:spAutoFit/>
          </a:bodyPr>
          <a:lstStyle/>
          <a:p>
            <a:pPr algn="l">
              <a:spcAft>
                <a:spcPts val="400"/>
              </a:spcAft>
            </a:pPr>
            <a:r>
              <a:rPr sz="1250" b="0" i="0">
                <a:solidFill>
                  <a:srgbClr val="F2EEE3"/>
                </a:solidFill>
                <a:latin typeface="Calibri"/>
              </a:rPr>
              <a:t>Une phase avance quand tous les concernés ont joué OU quand le timer expire — jamais bloquée par un joueur AFK.</a:t>
            </a:r>
          </a:p>
        </p:txBody>
      </p:sp>
      <p:sp>
        <p:nvSpPr>
          <p:cNvPr id="26" name="TextBox 25"/>
          <p:cNvSpPr txBox="1"/>
          <p:nvPr/>
        </p:nvSpPr>
        <p:spPr>
          <a:xfrm>
            <a:off x="11475720" y="6473952"/>
            <a:ext cx="548640" cy="274320"/>
          </a:xfrm>
          <a:prstGeom prst="rect">
            <a:avLst/>
          </a:prstGeom>
          <a:noFill/>
        </p:spPr>
        <p:txBody>
          <a:bodyPr wrap="square" anchor="t" lIns="0" rIns="0" tIns="0" bIns="0">
            <a:spAutoFit/>
          </a:bodyPr>
          <a:lstStyle/>
          <a:p>
            <a:pPr algn="r">
              <a:spcAft>
                <a:spcPts val="400"/>
              </a:spcAft>
            </a:pPr>
            <a:r>
              <a:rPr sz="1000" b="0" i="0">
                <a:solidFill>
                  <a:srgbClr val="ABA4C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sp>
        <p:nvSpPr>
          <p:cNvPr id="2" name="TextBox 1"/>
          <p:cNvSpPr txBox="1"/>
          <p:nvPr/>
        </p:nvSpPr>
        <p:spPr>
          <a:xfrm>
            <a:off x="548640" y="292608"/>
            <a:ext cx="11064240" cy="685800"/>
          </a:xfrm>
          <a:prstGeom prst="rect">
            <a:avLst/>
          </a:prstGeom>
          <a:noFill/>
        </p:spPr>
        <p:txBody>
          <a:bodyPr wrap="square" anchor="t" lIns="0" rIns="0" tIns="0" bIns="0">
            <a:spAutoFit/>
          </a:bodyPr>
          <a:lstStyle/>
          <a:p>
            <a:pPr algn="l">
              <a:spcAft>
                <a:spcPts val="400"/>
              </a:spcAft>
            </a:pPr>
            <a:r>
              <a:rPr sz="3300" b="1" i="0">
                <a:solidFill>
                  <a:srgbClr val="E8B44C"/>
                </a:solidFill>
                <a:latin typeface="Cambria"/>
              </a:rPr>
              <a:t>Composants UI JavaFX</a:t>
            </a:r>
          </a:p>
        </p:txBody>
      </p:sp>
      <p:sp>
        <p:nvSpPr>
          <p:cNvPr id="3" name="TextBox 2"/>
          <p:cNvSpPr txBox="1"/>
          <p:nvPr/>
        </p:nvSpPr>
        <p:spPr>
          <a:xfrm>
            <a:off x="548640" y="896112"/>
            <a:ext cx="11064240" cy="365760"/>
          </a:xfrm>
          <a:prstGeom prst="rect">
            <a:avLst/>
          </a:prstGeom>
          <a:noFill/>
        </p:spPr>
        <p:txBody>
          <a:bodyPr wrap="square" anchor="t" lIns="0" rIns="0" tIns="0" bIns="0">
            <a:spAutoFit/>
          </a:bodyPr>
          <a:lstStyle/>
          <a:p>
            <a:pPr algn="l">
              <a:spcAft>
                <a:spcPts val="400"/>
              </a:spcAft>
            </a:pPr>
            <a:r>
              <a:rPr sz="1400" b="0" i="0">
                <a:solidFill>
                  <a:srgbClr val="ABA4C8"/>
                </a:solidFill>
                <a:latin typeface="Calibri"/>
              </a:rPr>
              <a:t>Chaque exigence du cahier des charges, en situation réelle de jeu</a:t>
            </a:r>
          </a:p>
        </p:txBody>
      </p:sp>
      <p:sp>
        <p:nvSpPr>
          <p:cNvPr id="4" name="Rounded Rectangle 3"/>
          <p:cNvSpPr/>
          <p:nvPr/>
        </p:nvSpPr>
        <p:spPr>
          <a:xfrm>
            <a:off x="548640" y="1508760"/>
            <a:ext cx="5532120" cy="1042415"/>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1"/>
            <a:ext cx="512064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TreeView</a:t>
            </a:r>
          </a:p>
          <a:p>
            <a:pPr algn="l">
              <a:spcAft>
                <a:spcPts val="400"/>
              </a:spcAft>
            </a:pPr>
            <a:r>
              <a:rPr sz="1150" b="0" i="0">
                <a:solidFill>
                  <a:srgbClr val="F2EEE3"/>
                </a:solidFill>
                <a:latin typeface="Calibri"/>
              </a:rPr>
              <a:t>Vivants / Éliminés, tags hôte 👑 et Capitaine 🎖, rôles révélés aux morts</a:t>
            </a:r>
          </a:p>
        </p:txBody>
      </p:sp>
      <p:sp>
        <p:nvSpPr>
          <p:cNvPr id="6" name="Rounded Rectangle 5"/>
          <p:cNvSpPr/>
          <p:nvPr/>
        </p:nvSpPr>
        <p:spPr>
          <a:xfrm>
            <a:off x="6263640" y="1508760"/>
            <a:ext cx="5532120" cy="1042415"/>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27631"/>
            <a:ext cx="512064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ListView + ComboBox</a:t>
            </a:r>
          </a:p>
          <a:p>
            <a:pPr algn="l">
              <a:spcAft>
                <a:spcPts val="400"/>
              </a:spcAft>
            </a:pPr>
            <a:r>
              <a:rPr sz="1150" b="0" i="0">
                <a:solidFill>
                  <a:srgbClr val="F2EEE3"/>
                </a:solidFill>
                <a:latin typeface="Calibri"/>
              </a:rPr>
              <a:t>choix de cible selon le rôle, chat, classement, historique</a:t>
            </a:r>
          </a:p>
        </p:txBody>
      </p:sp>
      <p:sp>
        <p:nvSpPr>
          <p:cNvPr id="8" name="Rounded Rectangle 7"/>
          <p:cNvSpPr/>
          <p:nvPr/>
        </p:nvSpPr>
        <p:spPr>
          <a:xfrm>
            <a:off x="548640" y="2697480"/>
            <a:ext cx="5532120" cy="1042415"/>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16352"/>
            <a:ext cx="512064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ProgressBar animée</a:t>
            </a:r>
          </a:p>
          <a:p>
            <a:pPr algn="l">
              <a:spcAft>
                <a:spcPts val="400"/>
              </a:spcAft>
            </a:pPr>
            <a:r>
              <a:rPr sz="1150" b="0" i="0">
                <a:solidFill>
                  <a:srgbClr val="F2EEE3"/>
                </a:solidFill>
                <a:latin typeface="Calibri"/>
              </a:rPr>
              <a:t>timer de phase — vire au rouge et pulse sous 10 s</a:t>
            </a:r>
          </a:p>
        </p:txBody>
      </p:sp>
      <p:sp>
        <p:nvSpPr>
          <p:cNvPr id="10" name="Rounded Rectangle 9"/>
          <p:cNvSpPr/>
          <p:nvPr/>
        </p:nvSpPr>
        <p:spPr>
          <a:xfrm>
            <a:off x="6263640" y="2697480"/>
            <a:ext cx="5532120" cy="1042415"/>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816352"/>
            <a:ext cx="512064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Dialog / Alert</a:t>
            </a:r>
          </a:p>
          <a:p>
            <a:pPr algn="l">
              <a:spcAft>
                <a:spcPts val="400"/>
              </a:spcAft>
            </a:pPr>
            <a:r>
              <a:rPr sz="1150" b="0" i="0">
                <a:solidFill>
                  <a:srgbClr val="F2EEE3"/>
                </a:solidFill>
                <a:latin typeface="Calibri"/>
              </a:rPr>
              <a:t>vision de la Voyante (illustrée), tir du Chasseur, fin de partie</a:t>
            </a:r>
          </a:p>
        </p:txBody>
      </p:sp>
      <p:sp>
        <p:nvSpPr>
          <p:cNvPr id="12" name="Rounded Rectangle 11"/>
          <p:cNvSpPr/>
          <p:nvPr/>
        </p:nvSpPr>
        <p:spPr>
          <a:xfrm>
            <a:off x="548640" y="3886200"/>
            <a:ext cx="5532120" cy="1042415"/>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005072"/>
            <a:ext cx="512064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Timeline + KeyFrame</a:t>
            </a:r>
          </a:p>
          <a:p>
            <a:pPr algn="l">
              <a:spcAft>
                <a:spcPts val="400"/>
              </a:spcAft>
            </a:pPr>
            <a:r>
              <a:rPr sz="1150" b="0" i="0">
                <a:solidFill>
                  <a:srgbClr val="F2EEE3"/>
                </a:solidFill>
                <a:latin typeface="Calibri"/>
              </a:rPr>
              <a:t>polling 2 s + compte à rebours local resynchronisé</a:t>
            </a:r>
          </a:p>
        </p:txBody>
      </p:sp>
      <p:sp>
        <p:nvSpPr>
          <p:cNvPr id="14" name="Rounded Rectangle 13"/>
          <p:cNvSpPr/>
          <p:nvPr/>
        </p:nvSpPr>
        <p:spPr>
          <a:xfrm>
            <a:off x="6263640" y="3886200"/>
            <a:ext cx="5532120" cy="1042415"/>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005072"/>
            <a:ext cx="512064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Fade / Scale / Translate</a:t>
            </a:r>
          </a:p>
          <a:p>
            <a:pPr algn="l">
              <a:spcAft>
                <a:spcPts val="400"/>
              </a:spcAft>
            </a:pPr>
            <a:r>
              <a:rPr sz="1150" b="0" i="0">
                <a:solidFill>
                  <a:srgbClr val="F2EEE3"/>
                </a:solidFill>
                <a:latin typeface="Calibri"/>
              </a:rPr>
              <a:t>transitions jour-nuit, lever de lune et de soleil</a:t>
            </a:r>
          </a:p>
        </p:txBody>
      </p:sp>
      <p:sp>
        <p:nvSpPr>
          <p:cNvPr id="16" name="Rounded Rectangle 15"/>
          <p:cNvSpPr/>
          <p:nvPr/>
        </p:nvSpPr>
        <p:spPr>
          <a:xfrm>
            <a:off x="548640" y="5074920"/>
            <a:ext cx="5532120" cy="1042415"/>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193792"/>
            <a:ext cx="512064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CSS + polices custom</a:t>
            </a:r>
          </a:p>
          <a:p>
            <a:pPr algn="l">
              <a:spcAft>
                <a:spcPts val="400"/>
              </a:spcAft>
            </a:pPr>
            <a:r>
              <a:rPr sz="1150" b="0" i="0">
                <a:solidFill>
                  <a:srgbClr val="F2EEE3"/>
                </a:solidFill>
                <a:latin typeface="Calibri"/>
              </a:rPr>
              <a:t>thème sombre gaming, Cinzel &amp; IM Fell chargées au démarrage</a:t>
            </a:r>
          </a:p>
        </p:txBody>
      </p:sp>
      <p:sp>
        <p:nvSpPr>
          <p:cNvPr id="18" name="Rounded Rectangle 17"/>
          <p:cNvSpPr/>
          <p:nvPr/>
        </p:nvSpPr>
        <p:spPr>
          <a:xfrm>
            <a:off x="6263640" y="5074920"/>
            <a:ext cx="5532120" cy="1042415"/>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5193792"/>
            <a:ext cx="512064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AudioClip</a:t>
            </a:r>
          </a:p>
          <a:p>
            <a:pPr algn="l">
              <a:spcAft>
                <a:spcPts val="400"/>
              </a:spcAft>
            </a:pPr>
            <a:r>
              <a:rPr sz="1150" b="0" i="0">
                <a:solidFill>
                  <a:srgbClr val="F2EEE3"/>
                </a:solidFill>
                <a:latin typeface="Calibri"/>
              </a:rPr>
              <a:t>5 ambiances : nuit, aube, hurlement, mort, victoire</a:t>
            </a:r>
          </a:p>
        </p:txBody>
      </p:sp>
      <p:sp>
        <p:nvSpPr>
          <p:cNvPr id="20" name="TextBox 19"/>
          <p:cNvSpPr txBox="1"/>
          <p:nvPr/>
        </p:nvSpPr>
        <p:spPr>
          <a:xfrm>
            <a:off x="11475720" y="6473952"/>
            <a:ext cx="548640" cy="274320"/>
          </a:xfrm>
          <a:prstGeom prst="rect">
            <a:avLst/>
          </a:prstGeom>
          <a:noFill/>
        </p:spPr>
        <p:txBody>
          <a:bodyPr wrap="square" anchor="t" lIns="0" rIns="0" tIns="0" bIns="0">
            <a:spAutoFit/>
          </a:bodyPr>
          <a:lstStyle/>
          <a:p>
            <a:pPr algn="r">
              <a:spcAft>
                <a:spcPts val="400"/>
              </a:spcAft>
            </a:pPr>
            <a:r>
              <a:rPr sz="1000" b="0" i="0">
                <a:solidFill>
                  <a:srgbClr val="ABA4C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sp>
        <p:nvSpPr>
          <p:cNvPr id="2" name="TextBox 1"/>
          <p:cNvSpPr txBox="1"/>
          <p:nvPr/>
        </p:nvSpPr>
        <p:spPr>
          <a:xfrm>
            <a:off x="548640" y="292608"/>
            <a:ext cx="11064240" cy="685800"/>
          </a:xfrm>
          <a:prstGeom prst="rect">
            <a:avLst/>
          </a:prstGeom>
          <a:noFill/>
        </p:spPr>
        <p:txBody>
          <a:bodyPr wrap="square" anchor="t" lIns="0" rIns="0" tIns="0" bIns="0">
            <a:spAutoFit/>
          </a:bodyPr>
          <a:lstStyle/>
          <a:p>
            <a:pPr algn="l">
              <a:spcAft>
                <a:spcPts val="400"/>
              </a:spcAft>
            </a:pPr>
            <a:r>
              <a:rPr sz="3300" b="1" i="0">
                <a:solidFill>
                  <a:srgbClr val="E8B44C"/>
                </a:solidFill>
                <a:latin typeface="Cambria"/>
              </a:rPr>
              <a:t>Au-delà du cahier des charges</a:t>
            </a:r>
          </a:p>
        </p:txBody>
      </p:sp>
      <p:sp>
        <p:nvSpPr>
          <p:cNvPr id="3" name="TextBox 2"/>
          <p:cNvSpPr txBox="1"/>
          <p:nvPr/>
        </p:nvSpPr>
        <p:spPr>
          <a:xfrm>
            <a:off x="548640" y="896112"/>
            <a:ext cx="11064240" cy="365760"/>
          </a:xfrm>
          <a:prstGeom prst="rect">
            <a:avLst/>
          </a:prstGeom>
          <a:noFill/>
        </p:spPr>
        <p:txBody>
          <a:bodyPr wrap="square" anchor="t" lIns="0" rIns="0" tIns="0" bIns="0">
            <a:spAutoFit/>
          </a:bodyPr>
          <a:lstStyle/>
          <a:p>
            <a:pPr algn="l">
              <a:spcAft>
                <a:spcPts val="400"/>
              </a:spcAft>
            </a:pPr>
            <a:r>
              <a:rPr sz="1400" b="0" i="0">
                <a:solidFill>
                  <a:srgbClr val="ABA4C8"/>
                </a:solidFill>
                <a:latin typeface="Calibri"/>
              </a:rPr>
              <a:t>Ce qui rend les parties vivantes</a:t>
            </a:r>
          </a:p>
        </p:txBody>
      </p:sp>
      <p:sp>
        <p:nvSpPr>
          <p:cNvPr id="4" name="Rounded Rectangle 3"/>
          <p:cNvSpPr/>
          <p:nvPr/>
        </p:nvSpPr>
        <p:spPr>
          <a:xfrm>
            <a:off x="548640" y="1554480"/>
            <a:ext cx="3657600" cy="205740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55648"/>
            <a:ext cx="3200400" cy="1737360"/>
          </a:xfrm>
          <a:prstGeom prst="rect">
            <a:avLst/>
          </a:prstGeom>
          <a:noFill/>
        </p:spPr>
        <p:txBody>
          <a:bodyPr wrap="square" anchor="t" lIns="0" rIns="0" tIns="0" bIns="0">
            <a:spAutoFit/>
          </a:bodyPr>
          <a:lstStyle/>
          <a:p>
            <a:pPr algn="l">
              <a:spcAft>
                <a:spcPts val="400"/>
              </a:spcAft>
            </a:pPr>
            <a:r>
              <a:rPr sz="1550" b="1" i="0">
                <a:solidFill>
                  <a:srgbClr val="E8B44C"/>
                </a:solidFill>
                <a:latin typeface="Calibri"/>
              </a:rPr>
              <a:t>🎖  Capitaine</a:t>
            </a:r>
          </a:p>
          <a:p>
            <a:pPr algn="l">
              <a:spcAft>
                <a:spcPts val="400"/>
              </a:spcAft>
            </a:pPr>
            <a:r>
              <a:rPr sz="400" b="0" i="0">
                <a:solidFill>
                  <a:srgbClr val="F2EEE3"/>
                </a:solidFill>
                <a:latin typeface="Calibri"/>
              </a:rPr>
              <a:t/>
            </a:r>
          </a:p>
          <a:p>
            <a:pPr algn="l">
              <a:spcAft>
                <a:spcPts val="400"/>
              </a:spcAft>
            </a:pPr>
            <a:r>
              <a:rPr sz="1250" b="0" i="0">
                <a:solidFill>
                  <a:srgbClr val="F2EEE3"/>
                </a:solidFill>
                <a:latin typeface="Calibri"/>
              </a:rPr>
              <a:t>désigné au démarrage, voix double au vote, transmet son écharpe à sa mort</a:t>
            </a:r>
          </a:p>
        </p:txBody>
      </p:sp>
      <p:sp>
        <p:nvSpPr>
          <p:cNvPr id="6" name="Rounded Rectangle 5"/>
          <p:cNvSpPr/>
          <p:nvPr/>
        </p:nvSpPr>
        <p:spPr>
          <a:xfrm>
            <a:off x="4407407" y="1554480"/>
            <a:ext cx="3657600" cy="205740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36007" y="1755648"/>
            <a:ext cx="3200400" cy="1737360"/>
          </a:xfrm>
          <a:prstGeom prst="rect">
            <a:avLst/>
          </a:prstGeom>
          <a:noFill/>
        </p:spPr>
        <p:txBody>
          <a:bodyPr wrap="square" anchor="t" lIns="0" rIns="0" tIns="0" bIns="0">
            <a:spAutoFit/>
          </a:bodyPr>
          <a:lstStyle/>
          <a:p>
            <a:pPr algn="l">
              <a:spcAft>
                <a:spcPts val="400"/>
              </a:spcAft>
            </a:pPr>
            <a:r>
              <a:rPr sz="1550" b="1" i="0">
                <a:solidFill>
                  <a:srgbClr val="E8B44C"/>
                </a:solidFill>
                <a:latin typeface="Calibri"/>
              </a:rPr>
              <a:t>👧  Petite Fille</a:t>
            </a:r>
          </a:p>
          <a:p>
            <a:pPr algn="l">
              <a:spcAft>
                <a:spcPts val="400"/>
              </a:spcAft>
            </a:pPr>
            <a:r>
              <a:rPr sz="400" b="0" i="0">
                <a:solidFill>
                  <a:srgbClr val="F2EEE3"/>
                </a:solidFill>
                <a:latin typeface="Calibri"/>
              </a:rPr>
              <a:t/>
            </a:r>
          </a:p>
          <a:p>
            <a:pPr algn="l">
              <a:spcAft>
                <a:spcPts val="400"/>
              </a:spcAft>
            </a:pPr>
            <a:r>
              <a:rPr sz="1250" b="0" i="0">
                <a:solidFill>
                  <a:srgbClr val="F2EEE3"/>
                </a:solidFill>
                <a:latin typeface="Calibri"/>
              </a:rPr>
              <a:t>lit le chat des loups la nuit — à elle d'exploiter l'info sans se griller</a:t>
            </a:r>
          </a:p>
        </p:txBody>
      </p:sp>
      <p:sp>
        <p:nvSpPr>
          <p:cNvPr id="8" name="Rounded Rectangle 7"/>
          <p:cNvSpPr/>
          <p:nvPr/>
        </p:nvSpPr>
        <p:spPr>
          <a:xfrm>
            <a:off x="8266175" y="1554480"/>
            <a:ext cx="3657600" cy="205740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94776" y="1755648"/>
            <a:ext cx="3200400" cy="1737360"/>
          </a:xfrm>
          <a:prstGeom prst="rect">
            <a:avLst/>
          </a:prstGeom>
          <a:noFill/>
        </p:spPr>
        <p:txBody>
          <a:bodyPr wrap="square" anchor="t" lIns="0" rIns="0" tIns="0" bIns="0">
            <a:spAutoFit/>
          </a:bodyPr>
          <a:lstStyle/>
          <a:p>
            <a:pPr algn="l">
              <a:spcAft>
                <a:spcPts val="400"/>
              </a:spcAft>
            </a:pPr>
            <a:r>
              <a:rPr sz="1550" b="1" i="0">
                <a:solidFill>
                  <a:srgbClr val="E8B44C"/>
                </a:solidFill>
                <a:latin typeface="Calibri"/>
              </a:rPr>
              <a:t>🏹  Chasseur interactif</a:t>
            </a:r>
          </a:p>
          <a:p>
            <a:pPr algn="l">
              <a:spcAft>
                <a:spcPts val="400"/>
              </a:spcAft>
            </a:pPr>
            <a:r>
              <a:rPr sz="400" b="0" i="0">
                <a:solidFill>
                  <a:srgbClr val="F2EEE3"/>
                </a:solidFill>
                <a:latin typeface="Calibri"/>
              </a:rPr>
              <a:t/>
            </a:r>
          </a:p>
          <a:p>
            <a:pPr algn="l">
              <a:spcAft>
                <a:spcPts val="400"/>
              </a:spcAft>
            </a:pPr>
            <a:r>
              <a:rPr sz="1250" b="0" i="0">
                <a:solidFill>
                  <a:srgbClr val="F2EEE3"/>
                </a:solidFill>
                <a:latin typeface="Calibri"/>
              </a:rPr>
              <a:t>fenêtre de tir de 30 s à sa mort, la partie attend sa flèche</a:t>
            </a:r>
          </a:p>
        </p:txBody>
      </p:sp>
      <p:sp>
        <p:nvSpPr>
          <p:cNvPr id="10" name="Rounded Rectangle 9"/>
          <p:cNvSpPr/>
          <p:nvPr/>
        </p:nvSpPr>
        <p:spPr>
          <a:xfrm>
            <a:off x="548640" y="3840480"/>
            <a:ext cx="3657600" cy="205740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041648"/>
            <a:ext cx="3200400" cy="1737360"/>
          </a:xfrm>
          <a:prstGeom prst="rect">
            <a:avLst/>
          </a:prstGeom>
          <a:noFill/>
        </p:spPr>
        <p:txBody>
          <a:bodyPr wrap="square" anchor="t" lIns="0" rIns="0" tIns="0" bIns="0">
            <a:spAutoFit/>
          </a:bodyPr>
          <a:lstStyle/>
          <a:p>
            <a:pPr algn="l">
              <a:spcAft>
                <a:spcPts val="400"/>
              </a:spcAft>
            </a:pPr>
            <a:r>
              <a:rPr sz="1550" b="1" i="0">
                <a:solidFill>
                  <a:srgbClr val="E8B44C"/>
                </a:solidFill>
                <a:latin typeface="Calibri"/>
              </a:rPr>
              <a:t>💬  Chat scopé</a:t>
            </a:r>
          </a:p>
          <a:p>
            <a:pPr algn="l">
              <a:spcAft>
                <a:spcPts val="400"/>
              </a:spcAft>
            </a:pPr>
            <a:r>
              <a:rPr sz="400" b="0" i="0">
                <a:solidFill>
                  <a:srgbClr val="F2EEE3"/>
                </a:solidFill>
                <a:latin typeface="Calibri"/>
              </a:rPr>
              <a:t/>
            </a:r>
          </a:p>
          <a:p>
            <a:pPr algn="l">
              <a:spcAft>
                <a:spcPts val="400"/>
              </a:spcAft>
            </a:pPr>
            <a:r>
              <a:rPr sz="1250" b="0" i="0">
                <a:solidFill>
                  <a:srgbClr val="F2EEE3"/>
                </a:solidFill>
                <a:latin typeface="Calibri"/>
              </a:rPr>
              <a:t>canal village + canal privé des loups ; les morts deviennent spectateurs</a:t>
            </a:r>
          </a:p>
        </p:txBody>
      </p:sp>
      <p:sp>
        <p:nvSpPr>
          <p:cNvPr id="12" name="Rounded Rectangle 11"/>
          <p:cNvSpPr/>
          <p:nvPr/>
        </p:nvSpPr>
        <p:spPr>
          <a:xfrm>
            <a:off x="4407407" y="3840480"/>
            <a:ext cx="3657600" cy="205740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4041648"/>
            <a:ext cx="3200400" cy="1737360"/>
          </a:xfrm>
          <a:prstGeom prst="rect">
            <a:avLst/>
          </a:prstGeom>
          <a:noFill/>
        </p:spPr>
        <p:txBody>
          <a:bodyPr wrap="square" anchor="t" lIns="0" rIns="0" tIns="0" bIns="0">
            <a:spAutoFit/>
          </a:bodyPr>
          <a:lstStyle/>
          <a:p>
            <a:pPr algn="l">
              <a:spcAft>
                <a:spcPts val="400"/>
              </a:spcAft>
            </a:pPr>
            <a:r>
              <a:rPr sz="1550" b="1" i="0">
                <a:solidFill>
                  <a:srgbClr val="E8B44C"/>
                </a:solidFill>
                <a:latin typeface="Calibri"/>
              </a:rPr>
              <a:t>🏆  ELO &amp; classement</a:t>
            </a:r>
          </a:p>
          <a:p>
            <a:pPr algn="l">
              <a:spcAft>
                <a:spcPts val="400"/>
              </a:spcAft>
            </a:pPr>
            <a:r>
              <a:rPr sz="400" b="0" i="0">
                <a:solidFill>
                  <a:srgbClr val="F2EEE3"/>
                </a:solidFill>
                <a:latin typeface="Calibri"/>
              </a:rPr>
              <a:t/>
            </a:r>
          </a:p>
          <a:p>
            <a:pPr algn="l">
              <a:spcAft>
                <a:spcPts val="400"/>
              </a:spcAft>
            </a:pPr>
            <a:r>
              <a:rPr sz="1250" b="0" i="0">
                <a:solidFill>
                  <a:srgbClr val="F2EEE3"/>
                </a:solidFill>
                <a:latin typeface="Calibri"/>
              </a:rPr>
              <a:t>K=32 par équipe sur les parties classées, leaderboard, historique</a:t>
            </a:r>
          </a:p>
        </p:txBody>
      </p:sp>
      <p:sp>
        <p:nvSpPr>
          <p:cNvPr id="14" name="Rounded Rectangle 13"/>
          <p:cNvSpPr/>
          <p:nvPr/>
        </p:nvSpPr>
        <p:spPr>
          <a:xfrm>
            <a:off x="8266175" y="3840480"/>
            <a:ext cx="3657600" cy="205740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94776" y="4041648"/>
            <a:ext cx="3200400" cy="1737360"/>
          </a:xfrm>
          <a:prstGeom prst="rect">
            <a:avLst/>
          </a:prstGeom>
          <a:noFill/>
        </p:spPr>
        <p:txBody>
          <a:bodyPr wrap="square" anchor="t" lIns="0" rIns="0" tIns="0" bIns="0">
            <a:spAutoFit/>
          </a:bodyPr>
          <a:lstStyle/>
          <a:p>
            <a:pPr algn="l">
              <a:spcAft>
                <a:spcPts val="400"/>
              </a:spcAft>
            </a:pPr>
            <a:r>
              <a:rPr sz="1550" b="1" i="0">
                <a:solidFill>
                  <a:srgbClr val="E8B44C"/>
                </a:solidFill>
                <a:latin typeface="Calibri"/>
              </a:rPr>
              <a:t>🤝  Social</a:t>
            </a:r>
          </a:p>
          <a:p>
            <a:pPr algn="l">
              <a:spcAft>
                <a:spcPts val="400"/>
              </a:spcAft>
            </a:pPr>
            <a:r>
              <a:rPr sz="400" b="0" i="0">
                <a:solidFill>
                  <a:srgbClr val="F2EEE3"/>
                </a:solidFill>
                <a:latin typeface="Calibri"/>
              </a:rPr>
              <a:t/>
            </a:r>
          </a:p>
          <a:p>
            <a:pPr algn="l">
              <a:spcAft>
                <a:spcPts val="400"/>
              </a:spcAft>
            </a:pPr>
            <a:r>
              <a:rPr sz="1250" b="0" i="0">
                <a:solidFill>
                  <a:srgbClr val="F2EEE3"/>
                </a:solidFill>
                <a:latin typeface="Calibri"/>
              </a:rPr>
              <a:t>amis, demandes, invitations en partie, profil avec stats et avatar</a:t>
            </a:r>
          </a:p>
        </p:txBody>
      </p:sp>
      <p:sp>
        <p:nvSpPr>
          <p:cNvPr id="16" name="TextBox 15"/>
          <p:cNvSpPr txBox="1"/>
          <p:nvPr/>
        </p:nvSpPr>
        <p:spPr>
          <a:xfrm>
            <a:off x="548640" y="6172200"/>
            <a:ext cx="11064240" cy="365760"/>
          </a:xfrm>
          <a:prstGeom prst="rect">
            <a:avLst/>
          </a:prstGeom>
          <a:noFill/>
        </p:spPr>
        <p:txBody>
          <a:bodyPr wrap="square" anchor="t" lIns="0" rIns="0" tIns="0" bIns="0">
            <a:spAutoFit/>
          </a:bodyPr>
          <a:lstStyle/>
          <a:p>
            <a:pPr algn="l">
              <a:spcAft>
                <a:spcPts val="400"/>
              </a:spcAft>
            </a:pPr>
            <a:r>
              <a:rPr sz="1200" b="0" i="1">
                <a:solidFill>
                  <a:srgbClr val="ABA4C8"/>
                </a:solidFill>
                <a:latin typeface="Calibri"/>
              </a:rPr>
              <a:t>Votes affichés en direct pendant les phases de vote — la tension monte quand le décompte change.</a:t>
            </a:r>
          </a:p>
        </p:txBody>
      </p:sp>
      <p:sp>
        <p:nvSpPr>
          <p:cNvPr id="17" name="TextBox 16"/>
          <p:cNvSpPr txBox="1"/>
          <p:nvPr/>
        </p:nvSpPr>
        <p:spPr>
          <a:xfrm>
            <a:off x="11475720" y="6473952"/>
            <a:ext cx="548640" cy="274320"/>
          </a:xfrm>
          <a:prstGeom prst="rect">
            <a:avLst/>
          </a:prstGeom>
          <a:noFill/>
        </p:spPr>
        <p:txBody>
          <a:bodyPr wrap="square" anchor="t" lIns="0" rIns="0" tIns="0" bIns="0">
            <a:spAutoFit/>
          </a:bodyPr>
          <a:lstStyle/>
          <a:p>
            <a:pPr algn="r">
              <a:spcAft>
                <a:spcPts val="400"/>
              </a:spcAft>
            </a:pPr>
            <a:r>
              <a:rPr sz="1000" b="0" i="0">
                <a:solidFill>
                  <a:srgbClr val="ABA4C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sp>
        <p:nvSpPr>
          <p:cNvPr id="2" name="TextBox 1"/>
          <p:cNvSpPr txBox="1"/>
          <p:nvPr/>
        </p:nvSpPr>
        <p:spPr>
          <a:xfrm>
            <a:off x="548640" y="292608"/>
            <a:ext cx="11064240" cy="685800"/>
          </a:xfrm>
          <a:prstGeom prst="rect">
            <a:avLst/>
          </a:prstGeom>
          <a:noFill/>
        </p:spPr>
        <p:txBody>
          <a:bodyPr wrap="square" anchor="t" lIns="0" rIns="0" tIns="0" bIns="0">
            <a:spAutoFit/>
          </a:bodyPr>
          <a:lstStyle/>
          <a:p>
            <a:pPr algn="l">
              <a:spcAft>
                <a:spcPts val="400"/>
              </a:spcAft>
            </a:pPr>
            <a:r>
              <a:rPr sz="3300" b="1" i="0">
                <a:solidFill>
                  <a:srgbClr val="E8B44C"/>
                </a:solidFill>
                <a:latin typeface="Cambria"/>
              </a:rPr>
              <a:t>Mode entraînement : des bots qui jouent (et parlent)</a:t>
            </a:r>
          </a:p>
        </p:txBody>
      </p:sp>
      <p:sp>
        <p:nvSpPr>
          <p:cNvPr id="3" name="TextBox 2"/>
          <p:cNvSpPr txBox="1"/>
          <p:nvPr/>
        </p:nvSpPr>
        <p:spPr>
          <a:xfrm>
            <a:off x="548640" y="896112"/>
            <a:ext cx="11064240" cy="365760"/>
          </a:xfrm>
          <a:prstGeom prst="rect">
            <a:avLst/>
          </a:prstGeom>
          <a:noFill/>
        </p:spPr>
        <p:txBody>
          <a:bodyPr wrap="square" anchor="t" lIns="0" rIns="0" tIns="0" bIns="0">
            <a:spAutoFit/>
          </a:bodyPr>
          <a:lstStyle/>
          <a:p>
            <a:pPr algn="l">
              <a:spcAft>
                <a:spcPts val="400"/>
              </a:spcAft>
            </a:pPr>
            <a:r>
              <a:rPr sz="1400" b="0" i="0">
                <a:solidFill>
                  <a:srgbClr val="ABA4C8"/>
                </a:solidFill>
                <a:latin typeface="Calibri"/>
              </a:rPr>
              <a:t>Jouer seul, à toute heure — et une vitrine technique</a:t>
            </a:r>
          </a:p>
        </p:txBody>
      </p:sp>
      <p:sp>
        <p:nvSpPr>
          <p:cNvPr id="4" name="TextBox 3"/>
          <p:cNvSpPr txBox="1"/>
          <p:nvPr/>
        </p:nvSpPr>
        <p:spPr>
          <a:xfrm>
            <a:off x="548640" y="1508760"/>
            <a:ext cx="5486400" cy="4572000"/>
          </a:xfrm>
          <a:prstGeom prst="rect">
            <a:avLst/>
          </a:prstGeom>
          <a:noFill/>
        </p:spPr>
        <p:txBody>
          <a:bodyPr wrap="square" anchor="t" lIns="0" rIns="0" tIns="0" bIns="0">
            <a:spAutoFit/>
          </a:bodyPr>
          <a:lstStyle/>
          <a:p>
            <a:pPr algn="l">
              <a:spcAft>
                <a:spcPts val="400"/>
              </a:spcAft>
            </a:pPr>
            <a:r>
              <a:rPr sz="1600" b="1" i="0">
                <a:solidFill>
                  <a:srgbClr val="F2EEE3"/>
                </a:solidFill>
                <a:latin typeface="Cambria"/>
              </a:rPr>
              <a:t>Des bots qui jouent vraiment</a:t>
            </a:r>
          </a:p>
          <a:p>
            <a:pPr algn="l">
              <a:spcAft>
                <a:spcPts val="400"/>
              </a:spcAft>
            </a:pPr>
            <a:r>
              <a:rPr sz="1300" b="0" i="0">
                <a:solidFill>
                  <a:srgbClr val="F2EEE3"/>
                </a:solidFill>
                <a:latin typeface="Calibri"/>
              </a:rPr>
              <a:t>•  Votent en meute la nuit, votent le jour</a:t>
            </a:r>
          </a:p>
          <a:p>
            <a:pPr algn="l">
              <a:spcAft>
                <a:spcPts val="400"/>
              </a:spcAft>
            </a:pPr>
            <a:r>
              <a:rPr sz="1300" b="0" i="0">
                <a:solidFill>
                  <a:srgbClr val="F2EEE3"/>
                </a:solidFill>
                <a:latin typeface="Calibri"/>
              </a:rPr>
              <a:t>•  Sorcière : potions gérées, Voyante : sondes</a:t>
            </a:r>
          </a:p>
          <a:p>
            <a:pPr algn="l">
              <a:spcAft>
                <a:spcPts val="400"/>
              </a:spcAft>
            </a:pPr>
            <a:r>
              <a:rPr sz="1300" b="0" i="0">
                <a:solidFill>
                  <a:srgbClr val="F2EEE3"/>
                </a:solidFill>
                <a:latin typeface="Calibri"/>
              </a:rPr>
              <a:t>•  Chasseur bot : riposte à sa mort</a:t>
            </a:r>
          </a:p>
          <a:p>
            <a:pPr algn="l">
              <a:spcAft>
                <a:spcPts val="400"/>
              </a:spcAft>
            </a:pPr>
            <a:r>
              <a:rPr sz="800" b="0" i="0">
                <a:solidFill>
                  <a:srgbClr val="F2EEE3"/>
                </a:solidFill>
                <a:latin typeface="Calibri"/>
              </a:rPr>
              <a:t/>
            </a:r>
          </a:p>
          <a:p>
            <a:pPr algn="l">
              <a:spcAft>
                <a:spcPts val="400"/>
              </a:spcAft>
            </a:pPr>
            <a:r>
              <a:rPr sz="1600" b="1" i="0">
                <a:solidFill>
                  <a:srgbClr val="F2EEE3"/>
                </a:solidFill>
                <a:latin typeface="Cambria"/>
              </a:rPr>
              <a:t>Des dialogues générés par IA</a:t>
            </a:r>
          </a:p>
          <a:p>
            <a:pPr algn="l">
              <a:spcAft>
                <a:spcPts val="400"/>
              </a:spcAft>
            </a:pPr>
            <a:r>
              <a:rPr sz="1300" b="0" i="0">
                <a:solidFill>
                  <a:srgbClr val="F2EEE3"/>
                </a:solidFill>
                <a:latin typeface="Calibri"/>
              </a:rPr>
              <a:t>•  Google Gemini (gemini-2.5-flash-lite, gratuit)</a:t>
            </a:r>
          </a:p>
          <a:p>
            <a:pPr algn="l">
              <a:spcAft>
                <a:spcPts val="400"/>
              </a:spcAft>
            </a:pPr>
            <a:r>
              <a:rPr sz="1300" b="0" i="0">
                <a:solidFill>
                  <a:srgbClr val="F2EEE3"/>
                </a:solidFill>
                <a:latin typeface="Calibri"/>
              </a:rPr>
              <a:t>•  Prompt contextuel : rôle secret, joueurs vivants, derniers événements, chat récent</a:t>
            </a:r>
          </a:p>
          <a:p>
            <a:pPr algn="l">
              <a:spcAft>
                <a:spcPts val="400"/>
              </a:spcAft>
            </a:pPr>
            <a:r>
              <a:rPr sz="1300" b="0" i="0">
                <a:solidFill>
                  <a:srgbClr val="F2EEE3"/>
                </a:solidFill>
                <a:latin typeface="Calibri"/>
              </a:rPr>
              <a:t>•  8 personnalités stables par bot : agressif, peureux, analytique, silencieux…</a:t>
            </a:r>
          </a:p>
          <a:p>
            <a:pPr algn="l">
              <a:spcAft>
                <a:spcPts val="400"/>
              </a:spcAft>
            </a:pPr>
            <a:r>
              <a:rPr sz="1300" b="0" i="0">
                <a:solidFill>
                  <a:srgbClr val="F2EEE3"/>
                </a:solidFill>
                <a:latin typeface="Calibri"/>
              </a:rPr>
              <a:t>•  Les loups bots bluffent, ne se trahissent pas</a:t>
            </a:r>
          </a:p>
          <a:p>
            <a:pPr algn="l">
              <a:spcAft>
                <a:spcPts val="400"/>
              </a:spcAft>
            </a:pPr>
            <a:r>
              <a:rPr sz="1300" b="0" i="0">
                <a:solidFill>
                  <a:srgbClr val="F2EEE3"/>
                </a:solidFill>
                <a:latin typeface="Calibri"/>
              </a:rPr>
              <a:t>•  Throttle 3 s / partie + fallback phrases pré-écrites si pas de clé API</a:t>
            </a:r>
          </a:p>
        </p:txBody>
      </p:sp>
      <p:sp>
        <p:nvSpPr>
          <p:cNvPr id="5" name="Rounded Rectangle 4"/>
          <p:cNvSpPr/>
          <p:nvPr/>
        </p:nvSpPr>
        <p:spPr>
          <a:xfrm>
            <a:off x="6400800" y="1691640"/>
            <a:ext cx="5212080" cy="3017520"/>
          </a:xfrm>
          <a:prstGeom prst="roundRect">
            <a:avLst>
              <a:gd name="adj" fmla="val 7000"/>
            </a:avLst>
          </a:prstGeom>
          <a:solidFill>
            <a:srgbClr val="24204A"/>
          </a:solidFill>
          <a:ln w="12700">
            <a:solidFill>
              <a:srgbClr val="E8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1920240"/>
            <a:ext cx="4663440" cy="2651760"/>
          </a:xfrm>
          <a:prstGeom prst="rect">
            <a:avLst/>
          </a:prstGeom>
          <a:noFill/>
        </p:spPr>
        <p:txBody>
          <a:bodyPr wrap="square" anchor="t" lIns="0" rIns="0" tIns="0" bIns="0">
            <a:spAutoFit/>
          </a:bodyPr>
          <a:lstStyle/>
          <a:p>
            <a:pPr algn="l">
              <a:spcAft>
                <a:spcPts val="400"/>
              </a:spcAft>
            </a:pPr>
            <a:r>
              <a:rPr sz="1300" b="1" i="0">
                <a:solidFill>
                  <a:srgbClr val="ABA4C8"/>
                </a:solidFill>
                <a:latin typeface="Calibri"/>
              </a:rPr>
              <a:t>Vu en partie :</a:t>
            </a:r>
          </a:p>
          <a:p>
            <a:pPr algn="l">
              <a:spcAft>
                <a:spcPts val="400"/>
              </a:spcAft>
            </a:pPr>
            <a:r>
              <a:rPr sz="400" b="0" i="0">
                <a:solidFill>
                  <a:srgbClr val="F2EEE3"/>
                </a:solidFill>
                <a:latin typeface="Calibri"/>
              </a:rPr>
              <a:t/>
            </a:r>
          </a:p>
          <a:p>
            <a:pPr algn="l">
              <a:spcAft>
                <a:spcPts val="400"/>
              </a:spcAft>
            </a:pPr>
            <a:r>
              <a:rPr sz="1500" b="0" i="1">
                <a:solidFill>
                  <a:srgbClr val="F2EEE3"/>
                </a:solidFill>
                <a:latin typeface="Calibri"/>
              </a:rPr>
              <a:t>« Je sens le loup à plein nez. »</a:t>
            </a:r>
          </a:p>
          <a:p>
            <a:pPr algn="l">
              <a:spcAft>
                <a:spcPts val="400"/>
              </a:spcAft>
            </a:pPr>
            <a:r>
              <a:rPr sz="1150" b="0" i="0">
                <a:solidFill>
                  <a:srgbClr val="ABA4C8"/>
                </a:solidFill>
                <a:latin typeface="Calibri"/>
              </a:rPr>
              <a:t>— Brutus, villageois méfiant</a:t>
            </a:r>
          </a:p>
          <a:p>
            <a:pPr algn="l">
              <a:spcAft>
                <a:spcPts val="400"/>
              </a:spcAft>
            </a:pPr>
            <a:r>
              <a:rPr sz="600" b="0" i="0">
                <a:solidFill>
                  <a:srgbClr val="F2EEE3"/>
                </a:solidFill>
                <a:latin typeface="Calibri"/>
              </a:rPr>
              <a:t/>
            </a:r>
          </a:p>
          <a:p>
            <a:pPr algn="l">
              <a:spcAft>
                <a:spcPts val="400"/>
              </a:spcAft>
            </a:pPr>
            <a:r>
              <a:rPr sz="1500" b="0" i="1">
                <a:solidFill>
                  <a:srgbClr val="F2EEE3"/>
                </a:solidFill>
                <a:latin typeface="Calibri"/>
              </a:rPr>
              <a:t>« Humm. Qui. »</a:t>
            </a:r>
          </a:p>
          <a:p>
            <a:pPr algn="l">
              <a:spcAft>
                <a:spcPts val="400"/>
              </a:spcAft>
            </a:pPr>
            <a:r>
              <a:rPr sz="1150" b="0" i="0">
                <a:solidFill>
                  <a:srgbClr val="ABA4C8"/>
                </a:solidFill>
                <a:latin typeface="Calibri"/>
              </a:rPr>
              <a:t>— Iris, loup-garou au caractère silencieux</a:t>
            </a:r>
          </a:p>
          <a:p>
            <a:pPr algn="l">
              <a:spcAft>
                <a:spcPts val="400"/>
              </a:spcAft>
            </a:pPr>
            <a:r>
              <a:rPr sz="600" b="0" i="0">
                <a:solidFill>
                  <a:srgbClr val="F2EEE3"/>
                </a:solidFill>
                <a:latin typeface="Calibri"/>
              </a:rPr>
              <a:t/>
            </a:r>
          </a:p>
          <a:p>
            <a:pPr algn="l">
              <a:spcAft>
                <a:spcPts val="400"/>
              </a:spcAft>
            </a:pPr>
            <a:r>
              <a:rPr sz="1500" b="0" i="1">
                <a:solidFill>
                  <a:srgbClr val="F2EEE3"/>
                </a:solidFill>
                <a:latin typeface="Calibri"/>
              </a:rPr>
              <a:t>« Nuit. Loups. Chassent. »</a:t>
            </a:r>
          </a:p>
          <a:p>
            <a:pPr algn="l">
              <a:spcAft>
                <a:spcPts val="400"/>
              </a:spcAft>
            </a:pPr>
            <a:r>
              <a:rPr sz="1150" b="0" i="0">
                <a:solidFill>
                  <a:srgbClr val="ABA4C8"/>
                </a:solidFill>
                <a:latin typeface="Calibri"/>
              </a:rPr>
              <a:t>— Aurore, sous pression</a:t>
            </a:r>
          </a:p>
        </p:txBody>
      </p:sp>
      <p:sp>
        <p:nvSpPr>
          <p:cNvPr id="7" name="Rounded Rectangle 6"/>
          <p:cNvSpPr/>
          <p:nvPr/>
        </p:nvSpPr>
        <p:spPr>
          <a:xfrm>
            <a:off x="6400800" y="4983480"/>
            <a:ext cx="5212080" cy="1143000"/>
          </a:xfrm>
          <a:prstGeom prst="roundRect">
            <a:avLst>
              <a:gd name="adj" fmla="val 7000"/>
            </a:avLst>
          </a:prstGeom>
          <a:solidFill>
            <a:srgbClr val="2D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5138928"/>
            <a:ext cx="4663440" cy="868680"/>
          </a:xfrm>
          <a:prstGeom prst="rect">
            <a:avLst/>
          </a:prstGeom>
          <a:noFill/>
        </p:spPr>
        <p:txBody>
          <a:bodyPr wrap="square" anchor="t" lIns="0" rIns="0" tIns="0" bIns="0">
            <a:spAutoFit/>
          </a:bodyPr>
          <a:lstStyle/>
          <a:p>
            <a:pPr algn="l">
              <a:spcAft>
                <a:spcPts val="400"/>
              </a:spcAft>
            </a:pPr>
            <a:r>
              <a:rPr sz="1250" b="0" i="0">
                <a:solidFill>
                  <a:srgbClr val="F2EEE3"/>
                </a:solidFill>
                <a:latin typeface="Calibri"/>
              </a:rPr>
              <a:t>La clé API vit dans config.local.php, ignoré par Git — le dépôt ne contient aucun secret.</a:t>
            </a:r>
          </a:p>
        </p:txBody>
      </p:sp>
      <p:sp>
        <p:nvSpPr>
          <p:cNvPr id="9" name="TextBox 8"/>
          <p:cNvSpPr txBox="1"/>
          <p:nvPr/>
        </p:nvSpPr>
        <p:spPr>
          <a:xfrm>
            <a:off x="11475720" y="6473952"/>
            <a:ext cx="548640" cy="274320"/>
          </a:xfrm>
          <a:prstGeom prst="rect">
            <a:avLst/>
          </a:prstGeom>
          <a:noFill/>
        </p:spPr>
        <p:txBody>
          <a:bodyPr wrap="square" anchor="t" lIns="0" rIns="0" tIns="0" bIns="0">
            <a:spAutoFit/>
          </a:bodyPr>
          <a:lstStyle/>
          <a:p>
            <a:pPr algn="r">
              <a:spcAft>
                <a:spcPts val="400"/>
              </a:spcAft>
            </a:pPr>
            <a:r>
              <a:rPr sz="1000" b="0" i="0">
                <a:solidFill>
                  <a:srgbClr val="ABA4C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sp>
        <p:nvSpPr>
          <p:cNvPr id="2" name="TextBox 1"/>
          <p:cNvSpPr txBox="1"/>
          <p:nvPr/>
        </p:nvSpPr>
        <p:spPr>
          <a:xfrm>
            <a:off x="548640" y="292608"/>
            <a:ext cx="11064240" cy="685800"/>
          </a:xfrm>
          <a:prstGeom prst="rect">
            <a:avLst/>
          </a:prstGeom>
          <a:noFill/>
        </p:spPr>
        <p:txBody>
          <a:bodyPr wrap="square" anchor="t" lIns="0" rIns="0" tIns="0" bIns="0">
            <a:spAutoFit/>
          </a:bodyPr>
          <a:lstStyle/>
          <a:p>
            <a:pPr algn="l">
              <a:spcAft>
                <a:spcPts val="400"/>
              </a:spcAft>
            </a:pPr>
            <a:r>
              <a:rPr sz="3300" b="1" i="0">
                <a:solidFill>
                  <a:srgbClr val="E8B44C"/>
                </a:solidFill>
                <a:latin typeface="Cambria"/>
              </a:rPr>
              <a:t>Difficultés rencontrées (et résolues)</a:t>
            </a:r>
          </a:p>
        </p:txBody>
      </p:sp>
      <p:sp>
        <p:nvSpPr>
          <p:cNvPr id="3" name="TextBox 2"/>
          <p:cNvSpPr txBox="1"/>
          <p:nvPr/>
        </p:nvSpPr>
        <p:spPr>
          <a:xfrm>
            <a:off x="548640" y="896112"/>
            <a:ext cx="11064240" cy="365760"/>
          </a:xfrm>
          <a:prstGeom prst="rect">
            <a:avLst/>
          </a:prstGeom>
          <a:noFill/>
        </p:spPr>
        <p:txBody>
          <a:bodyPr wrap="square" anchor="t" lIns="0" rIns="0" tIns="0" bIns="0">
            <a:spAutoFit/>
          </a:bodyPr>
          <a:lstStyle/>
          <a:p>
            <a:pPr algn="l">
              <a:spcAft>
                <a:spcPts val="400"/>
              </a:spcAft>
            </a:pPr>
            <a:r>
              <a:rPr sz="1400" b="0" i="0">
                <a:solidFill>
                  <a:srgbClr val="ABA4C8"/>
                </a:solidFill>
                <a:latin typeface="Calibri"/>
              </a:rPr>
              <a:t>Quatre bugs formateurs</a:t>
            </a:r>
          </a:p>
        </p:txBody>
      </p:sp>
      <p:sp>
        <p:nvSpPr>
          <p:cNvPr id="4" name="Rounded Rectangle 3"/>
          <p:cNvSpPr/>
          <p:nvPr/>
        </p:nvSpPr>
        <p:spPr>
          <a:xfrm>
            <a:off x="548640" y="1554480"/>
            <a:ext cx="5532120" cy="210312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37360"/>
            <a:ext cx="5074920" cy="1783080"/>
          </a:xfrm>
          <a:prstGeom prst="rect">
            <a:avLst/>
          </a:prstGeom>
          <a:noFill/>
        </p:spPr>
        <p:txBody>
          <a:bodyPr wrap="square" anchor="t" lIns="0" rIns="0" tIns="0" bIns="0">
            <a:spAutoFit/>
          </a:bodyPr>
          <a:lstStyle/>
          <a:p>
            <a:pPr algn="l">
              <a:spcAft>
                <a:spcPts val="400"/>
              </a:spcAft>
            </a:pPr>
            <a:r>
              <a:rPr sz="1400" b="1" i="0">
                <a:solidFill>
                  <a:srgbClr val="E05250"/>
                </a:solidFill>
                <a:latin typeface="Calibri"/>
              </a:rPr>
              <a:t>Les loups ne tuaient jamais personne</a:t>
            </a:r>
          </a:p>
          <a:p>
            <a:pPr algn="l">
              <a:spcAft>
                <a:spcPts val="400"/>
              </a:spcAft>
            </a:pPr>
            <a:r>
              <a:rPr sz="300" b="0" i="0">
                <a:solidFill>
                  <a:srgbClr val="F2EEE3"/>
                </a:solidFill>
                <a:latin typeface="Calibri"/>
              </a:rPr>
              <a:t/>
            </a:r>
          </a:p>
          <a:p>
            <a:pPr algn="l">
              <a:spcAft>
                <a:spcPts val="400"/>
              </a:spcAft>
            </a:pPr>
            <a:r>
              <a:rPr sz="1200" b="0" i="0">
                <a:solidFill>
                  <a:srgbClr val="F2EEE3"/>
                </a:solidFill>
                <a:latin typeface="Calibri"/>
              </a:rPr>
              <a:t>Le « passer » de la Sorcière était stocké comme un faux WITCH_HEAL → soin fantôme chaque nuit. Trouvé en simulant une partie complète via l'API ; corrigé par un vrai type WITCH_PASS (migration v6).</a:t>
            </a:r>
          </a:p>
        </p:txBody>
      </p:sp>
      <p:sp>
        <p:nvSpPr>
          <p:cNvPr id="6" name="Rounded Rectangle 5"/>
          <p:cNvSpPr/>
          <p:nvPr/>
        </p:nvSpPr>
        <p:spPr>
          <a:xfrm>
            <a:off x="6263640" y="1554480"/>
            <a:ext cx="5532120" cy="210312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5074920" cy="1783080"/>
          </a:xfrm>
          <a:prstGeom prst="rect">
            <a:avLst/>
          </a:prstGeom>
          <a:noFill/>
        </p:spPr>
        <p:txBody>
          <a:bodyPr wrap="square" anchor="t" lIns="0" rIns="0" tIns="0" bIns="0">
            <a:spAutoFit/>
          </a:bodyPr>
          <a:lstStyle/>
          <a:p>
            <a:pPr algn="l">
              <a:spcAft>
                <a:spcPts val="400"/>
              </a:spcAft>
            </a:pPr>
            <a:r>
              <a:rPr sz="1400" b="1" i="0">
                <a:solidFill>
                  <a:srgbClr val="E05250"/>
                </a:solidFill>
                <a:latin typeface="Calibri"/>
              </a:rPr>
              <a:t>Connection refused au login</a:t>
            </a:r>
          </a:p>
          <a:p>
            <a:pPr algn="l">
              <a:spcAft>
                <a:spcPts val="400"/>
              </a:spcAft>
            </a:pPr>
            <a:r>
              <a:rPr sz="300" b="0" i="0">
                <a:solidFill>
                  <a:srgbClr val="F2EEE3"/>
                </a:solidFill>
                <a:latin typeface="Calibri"/>
              </a:rPr>
              <a:t/>
            </a:r>
          </a:p>
          <a:p>
            <a:pPr algn="l">
              <a:spcAft>
                <a:spcPts val="400"/>
              </a:spcAft>
            </a:pPr>
            <a:r>
              <a:rPr sz="1200" b="0" i="0">
                <a:solidFill>
                  <a:srgbClr val="F2EEE3"/>
                </a:solidFill>
                <a:latin typeface="Calibri"/>
              </a:rPr>
              <a:t>php -S localhost liait le serveur en IPv6 (::1) seulement, le client Java appelle en IPv4 → refus systématique. Bind explicite 127.0.0.1 des deux côtés.</a:t>
            </a:r>
          </a:p>
        </p:txBody>
      </p:sp>
      <p:sp>
        <p:nvSpPr>
          <p:cNvPr id="8" name="Rounded Rectangle 7"/>
          <p:cNvSpPr/>
          <p:nvPr/>
        </p:nvSpPr>
        <p:spPr>
          <a:xfrm>
            <a:off x="548640" y="3886200"/>
            <a:ext cx="5532120" cy="210312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069080"/>
            <a:ext cx="5074920" cy="1783080"/>
          </a:xfrm>
          <a:prstGeom prst="rect">
            <a:avLst/>
          </a:prstGeom>
          <a:noFill/>
        </p:spPr>
        <p:txBody>
          <a:bodyPr wrap="square" anchor="t" lIns="0" rIns="0" tIns="0" bIns="0">
            <a:spAutoFit/>
          </a:bodyPr>
          <a:lstStyle/>
          <a:p>
            <a:pPr algn="l">
              <a:spcAft>
                <a:spcPts val="400"/>
              </a:spcAft>
            </a:pPr>
            <a:r>
              <a:rPr sz="1400" b="1" i="0">
                <a:solidFill>
                  <a:srgbClr val="E05250"/>
                </a:solidFill>
                <a:latin typeface="Calibri"/>
              </a:rPr>
              <a:t>Le JAR JavaFX refusait de se lancer</a:t>
            </a:r>
          </a:p>
          <a:p>
            <a:pPr algn="l">
              <a:spcAft>
                <a:spcPts val="400"/>
              </a:spcAft>
            </a:pPr>
            <a:r>
              <a:rPr sz="300" b="0" i="0">
                <a:solidFill>
                  <a:srgbClr val="F2EEE3"/>
                </a:solidFill>
                <a:latin typeface="Calibri"/>
              </a:rPr>
              <a:t/>
            </a:r>
          </a:p>
          <a:p>
            <a:pPr algn="l">
              <a:spcAft>
                <a:spcPts val="400"/>
              </a:spcAft>
            </a:pPr>
            <a:r>
              <a:rPr sz="1200" b="0" i="0">
                <a:solidFill>
                  <a:srgbClr val="F2EEE3"/>
                </a:solidFill>
                <a:latin typeface="Calibri"/>
              </a:rPr>
              <a:t>« JavaFX runtime components are missing » : une classe Application ne peut pas être le Main-Class d'un fat jar. Classe Launcher intermédiaire + maven-shade.</a:t>
            </a:r>
          </a:p>
        </p:txBody>
      </p:sp>
      <p:sp>
        <p:nvSpPr>
          <p:cNvPr id="10" name="Rounded Rectangle 9"/>
          <p:cNvSpPr/>
          <p:nvPr/>
        </p:nvSpPr>
        <p:spPr>
          <a:xfrm>
            <a:off x="6263640" y="3886200"/>
            <a:ext cx="5532120" cy="210312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69080"/>
            <a:ext cx="5074920" cy="1783080"/>
          </a:xfrm>
          <a:prstGeom prst="rect">
            <a:avLst/>
          </a:prstGeom>
          <a:noFill/>
        </p:spPr>
        <p:txBody>
          <a:bodyPr wrap="square" anchor="t" lIns="0" rIns="0" tIns="0" bIns="0">
            <a:spAutoFit/>
          </a:bodyPr>
          <a:lstStyle/>
          <a:p>
            <a:pPr algn="l">
              <a:spcAft>
                <a:spcPts val="400"/>
              </a:spcAft>
            </a:pPr>
            <a:r>
              <a:rPr sz="1400" b="1" i="0">
                <a:solidFill>
                  <a:srgbClr val="E05250"/>
                </a:solidFill>
                <a:latin typeface="Calibri"/>
              </a:rPr>
              <a:t>Le modèle Gemini a disparu</a:t>
            </a:r>
          </a:p>
          <a:p>
            <a:pPr algn="l">
              <a:spcAft>
                <a:spcPts val="400"/>
              </a:spcAft>
            </a:pPr>
            <a:r>
              <a:rPr sz="300" b="0" i="0">
                <a:solidFill>
                  <a:srgbClr val="F2EEE3"/>
                </a:solidFill>
                <a:latin typeface="Calibri"/>
              </a:rPr>
              <a:t/>
            </a:r>
          </a:p>
          <a:p>
            <a:pPr algn="l">
              <a:spcAft>
                <a:spcPts val="400"/>
              </a:spcAft>
            </a:pPr>
            <a:r>
              <a:rPr sz="1200" b="0" i="0">
                <a:solidFill>
                  <a:srgbClr val="F2EEE3"/>
                </a:solidFill>
                <a:latin typeface="Calibri"/>
              </a:rPr>
              <a:t>gemini-1.5-flash retiré par Google → 404 silencieux, et son remplaçant « thinking » gaspillait le budget de tokens en réflexion. Passage à gemini-2.5-flash-lite après tests réels.</a:t>
            </a:r>
          </a:p>
        </p:txBody>
      </p:sp>
      <p:sp>
        <p:nvSpPr>
          <p:cNvPr id="12" name="TextBox 11"/>
          <p:cNvSpPr txBox="1"/>
          <p:nvPr/>
        </p:nvSpPr>
        <p:spPr>
          <a:xfrm>
            <a:off x="11475720" y="6473952"/>
            <a:ext cx="548640" cy="274320"/>
          </a:xfrm>
          <a:prstGeom prst="rect">
            <a:avLst/>
          </a:prstGeom>
          <a:noFill/>
        </p:spPr>
        <p:txBody>
          <a:bodyPr wrap="square" anchor="t" lIns="0" rIns="0" tIns="0" bIns="0">
            <a:spAutoFit/>
          </a:bodyPr>
          <a:lstStyle/>
          <a:p>
            <a:pPr algn="r">
              <a:spcAft>
                <a:spcPts val="400"/>
              </a:spcAft>
            </a:pPr>
            <a:r>
              <a:rPr sz="1000" b="0" i="0">
                <a:solidFill>
                  <a:srgbClr val="ABA4C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sp>
        <p:nvSpPr>
          <p:cNvPr id="2" name="TextBox 1"/>
          <p:cNvSpPr txBox="1"/>
          <p:nvPr/>
        </p:nvSpPr>
        <p:spPr>
          <a:xfrm>
            <a:off x="548640" y="292608"/>
            <a:ext cx="11064240" cy="685800"/>
          </a:xfrm>
          <a:prstGeom prst="rect">
            <a:avLst/>
          </a:prstGeom>
          <a:noFill/>
        </p:spPr>
        <p:txBody>
          <a:bodyPr wrap="square" anchor="t" lIns="0" rIns="0" tIns="0" bIns="0">
            <a:spAutoFit/>
          </a:bodyPr>
          <a:lstStyle/>
          <a:p>
            <a:pPr algn="l">
              <a:spcAft>
                <a:spcPts val="400"/>
              </a:spcAft>
            </a:pPr>
            <a:r>
              <a:rPr sz="3300" b="1" i="0">
                <a:solidFill>
                  <a:srgbClr val="E8B44C"/>
                </a:solidFill>
                <a:latin typeface="Cambria"/>
              </a:rPr>
              <a:t>Démo live</a:t>
            </a:r>
          </a:p>
        </p:txBody>
      </p:sp>
      <p:sp>
        <p:nvSpPr>
          <p:cNvPr id="3" name="TextBox 2"/>
          <p:cNvSpPr txBox="1"/>
          <p:nvPr/>
        </p:nvSpPr>
        <p:spPr>
          <a:xfrm>
            <a:off x="548640" y="896112"/>
            <a:ext cx="11064240" cy="365760"/>
          </a:xfrm>
          <a:prstGeom prst="rect">
            <a:avLst/>
          </a:prstGeom>
          <a:noFill/>
        </p:spPr>
        <p:txBody>
          <a:bodyPr wrap="square" anchor="t" lIns="0" rIns="0" tIns="0" bIns="0">
            <a:spAutoFit/>
          </a:bodyPr>
          <a:lstStyle/>
          <a:p>
            <a:pPr algn="l">
              <a:spcAft>
                <a:spcPts val="400"/>
              </a:spcAft>
            </a:pPr>
            <a:r>
              <a:rPr sz="1400" b="0" i="0">
                <a:solidFill>
                  <a:srgbClr val="ABA4C8"/>
                </a:solidFill>
                <a:latin typeface="Calibri"/>
              </a:rPr>
              <a:t>Ce que je vais vous montrer</a:t>
            </a:r>
          </a:p>
        </p:txBody>
      </p:sp>
      <p:sp>
        <p:nvSpPr>
          <p:cNvPr id="4" name="Rounded Rectangle 3"/>
          <p:cNvSpPr/>
          <p:nvPr/>
        </p:nvSpPr>
        <p:spPr>
          <a:xfrm>
            <a:off x="548640" y="1554480"/>
            <a:ext cx="8229600" cy="10241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55648"/>
            <a:ext cx="621792" cy="621792"/>
          </a:xfrm>
          <a:prstGeom prst="roundRect">
            <a:avLst>
              <a:gd name="adj" fmla="val 50000"/>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621792" cy="502920"/>
          </a:xfrm>
          <a:prstGeom prst="rect">
            <a:avLst/>
          </a:prstGeom>
          <a:noFill/>
        </p:spPr>
        <p:txBody>
          <a:bodyPr wrap="square" anchor="t" lIns="0" rIns="0" tIns="0" bIns="0">
            <a:spAutoFit/>
          </a:bodyPr>
          <a:lstStyle/>
          <a:p>
            <a:pPr algn="ctr">
              <a:spcAft>
                <a:spcPts val="400"/>
              </a:spcAft>
            </a:pPr>
            <a:r>
              <a:rPr sz="2000" b="1" i="0">
                <a:solidFill>
                  <a:srgbClr val="171430"/>
                </a:solidFill>
                <a:latin typeface="Cambria"/>
              </a:rPr>
              <a:t>1</a:t>
            </a:r>
          </a:p>
        </p:txBody>
      </p:sp>
      <p:sp>
        <p:nvSpPr>
          <p:cNvPr id="7" name="TextBox 6"/>
          <p:cNvSpPr txBox="1"/>
          <p:nvPr/>
        </p:nvSpPr>
        <p:spPr>
          <a:xfrm>
            <a:off x="1691640" y="1673352"/>
            <a:ext cx="685800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Partie à 4 joueurs</a:t>
            </a:r>
          </a:p>
          <a:p>
            <a:pPr algn="l">
              <a:spcAft>
                <a:spcPts val="400"/>
              </a:spcAft>
            </a:pPr>
            <a:r>
              <a:rPr sz="1150" b="0" i="0">
                <a:solidFill>
                  <a:srgbClr val="F2EEE3"/>
                </a:solidFill>
                <a:latin typeface="Calibri"/>
              </a:rPr>
              <a:t>4 fenêtres du client côte à côte (tools/demo.bat) : création, lobby, rôles secrets différents dans chaque fenêtre</a:t>
            </a:r>
          </a:p>
        </p:txBody>
      </p:sp>
      <p:sp>
        <p:nvSpPr>
          <p:cNvPr id="8" name="Rounded Rectangle 7"/>
          <p:cNvSpPr/>
          <p:nvPr/>
        </p:nvSpPr>
        <p:spPr>
          <a:xfrm>
            <a:off x="548640" y="2724912"/>
            <a:ext cx="8229600" cy="10241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926080"/>
            <a:ext cx="621792" cy="621792"/>
          </a:xfrm>
          <a:prstGeom prst="roundRect">
            <a:avLst>
              <a:gd name="adj" fmla="val 50000"/>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999232"/>
            <a:ext cx="621792" cy="502920"/>
          </a:xfrm>
          <a:prstGeom prst="rect">
            <a:avLst/>
          </a:prstGeom>
          <a:noFill/>
        </p:spPr>
        <p:txBody>
          <a:bodyPr wrap="square" anchor="t" lIns="0" rIns="0" tIns="0" bIns="0">
            <a:spAutoFit/>
          </a:bodyPr>
          <a:lstStyle/>
          <a:p>
            <a:pPr algn="ctr">
              <a:spcAft>
                <a:spcPts val="400"/>
              </a:spcAft>
            </a:pPr>
            <a:r>
              <a:rPr sz="2000" b="1" i="0">
                <a:solidFill>
                  <a:srgbClr val="171430"/>
                </a:solidFill>
                <a:latin typeface="Cambria"/>
              </a:rPr>
              <a:t>2</a:t>
            </a:r>
          </a:p>
        </p:txBody>
      </p:sp>
      <p:sp>
        <p:nvSpPr>
          <p:cNvPr id="11" name="TextBox 10"/>
          <p:cNvSpPr txBox="1"/>
          <p:nvPr/>
        </p:nvSpPr>
        <p:spPr>
          <a:xfrm>
            <a:off x="1691640" y="2843784"/>
            <a:ext cx="685800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Une nuit complète</a:t>
            </a:r>
          </a:p>
          <a:p>
            <a:pPr algn="l">
              <a:spcAft>
                <a:spcPts val="400"/>
              </a:spcAft>
            </a:pPr>
            <a:r>
              <a:rPr sz="1150" b="0" i="0">
                <a:solidFill>
                  <a:srgbClr val="F2EEE3"/>
                </a:solidFill>
                <a:latin typeface="Calibri"/>
              </a:rPr>
              <a:t>loups qui votent en privé, Voyante qui sonde, timer rouge, sons d'ambiance</a:t>
            </a:r>
          </a:p>
        </p:txBody>
      </p:sp>
      <p:sp>
        <p:nvSpPr>
          <p:cNvPr id="12" name="Rounded Rectangle 11"/>
          <p:cNvSpPr/>
          <p:nvPr/>
        </p:nvSpPr>
        <p:spPr>
          <a:xfrm>
            <a:off x="548640" y="3895344"/>
            <a:ext cx="8229600" cy="10241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 y="4096511"/>
            <a:ext cx="621792" cy="621792"/>
          </a:xfrm>
          <a:prstGeom prst="roundRect">
            <a:avLst>
              <a:gd name="adj" fmla="val 50000"/>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169663"/>
            <a:ext cx="621792" cy="502920"/>
          </a:xfrm>
          <a:prstGeom prst="rect">
            <a:avLst/>
          </a:prstGeom>
          <a:noFill/>
        </p:spPr>
        <p:txBody>
          <a:bodyPr wrap="square" anchor="t" lIns="0" rIns="0" tIns="0" bIns="0">
            <a:spAutoFit/>
          </a:bodyPr>
          <a:lstStyle/>
          <a:p>
            <a:pPr algn="ctr">
              <a:spcAft>
                <a:spcPts val="400"/>
              </a:spcAft>
            </a:pPr>
            <a:r>
              <a:rPr sz="2000" b="1" i="0">
                <a:solidFill>
                  <a:srgbClr val="171430"/>
                </a:solidFill>
                <a:latin typeface="Cambria"/>
              </a:rPr>
              <a:t>3</a:t>
            </a:r>
          </a:p>
        </p:txBody>
      </p:sp>
      <p:sp>
        <p:nvSpPr>
          <p:cNvPr id="15" name="TextBox 14"/>
          <p:cNvSpPr txBox="1"/>
          <p:nvPr/>
        </p:nvSpPr>
        <p:spPr>
          <a:xfrm>
            <a:off x="1691640" y="4014215"/>
            <a:ext cx="685800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Un vote du village</a:t>
            </a:r>
          </a:p>
          <a:p>
            <a:pPr algn="l">
              <a:spcAft>
                <a:spcPts val="400"/>
              </a:spcAft>
            </a:pPr>
            <a:r>
              <a:rPr sz="1150" b="0" i="0">
                <a:solidFill>
                  <a:srgbClr val="F2EEE3"/>
                </a:solidFill>
                <a:latin typeface="Calibri"/>
              </a:rPr>
              <a:t>chat, décompte en direct, voix double du Capitaine, révélation du lynché</a:t>
            </a:r>
          </a:p>
        </p:txBody>
      </p:sp>
      <p:sp>
        <p:nvSpPr>
          <p:cNvPr id="16" name="Rounded Rectangle 15"/>
          <p:cNvSpPr/>
          <p:nvPr/>
        </p:nvSpPr>
        <p:spPr>
          <a:xfrm>
            <a:off x="548640" y="5065776"/>
            <a:ext cx="8229600" cy="1024128"/>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5266944"/>
            <a:ext cx="621792" cy="621792"/>
          </a:xfrm>
          <a:prstGeom prst="roundRect">
            <a:avLst>
              <a:gd name="adj" fmla="val 50000"/>
            </a:avLst>
          </a:prstGeom>
          <a:solidFill>
            <a:srgbClr val="E8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340096"/>
            <a:ext cx="621792" cy="502920"/>
          </a:xfrm>
          <a:prstGeom prst="rect">
            <a:avLst/>
          </a:prstGeom>
          <a:noFill/>
        </p:spPr>
        <p:txBody>
          <a:bodyPr wrap="square" anchor="t" lIns="0" rIns="0" tIns="0" bIns="0">
            <a:spAutoFit/>
          </a:bodyPr>
          <a:lstStyle/>
          <a:p>
            <a:pPr algn="ctr">
              <a:spcAft>
                <a:spcPts val="400"/>
              </a:spcAft>
            </a:pPr>
            <a:r>
              <a:rPr sz="2000" b="1" i="0">
                <a:solidFill>
                  <a:srgbClr val="171430"/>
                </a:solidFill>
                <a:latin typeface="Cambria"/>
              </a:rPr>
              <a:t>4</a:t>
            </a:r>
          </a:p>
        </p:txBody>
      </p:sp>
      <p:sp>
        <p:nvSpPr>
          <p:cNvPr id="19" name="TextBox 18"/>
          <p:cNvSpPr txBox="1"/>
          <p:nvPr/>
        </p:nvSpPr>
        <p:spPr>
          <a:xfrm>
            <a:off x="1691640" y="5184648"/>
            <a:ext cx="6858000" cy="868680"/>
          </a:xfrm>
          <a:prstGeom prst="rect">
            <a:avLst/>
          </a:prstGeom>
          <a:noFill/>
        </p:spPr>
        <p:txBody>
          <a:bodyPr wrap="square" anchor="t" lIns="0" rIns="0" tIns="0" bIns="0">
            <a:spAutoFit/>
          </a:bodyPr>
          <a:lstStyle/>
          <a:p>
            <a:pPr algn="l">
              <a:spcAft>
                <a:spcPts val="400"/>
              </a:spcAft>
            </a:pPr>
            <a:r>
              <a:rPr sz="1400" b="1" i="0">
                <a:solidFill>
                  <a:srgbClr val="E8B44C"/>
                </a:solidFill>
                <a:latin typeface="Calibri"/>
              </a:rPr>
              <a:t>Mode entraînement</a:t>
            </a:r>
          </a:p>
          <a:p>
            <a:pPr algn="l">
              <a:spcAft>
                <a:spcPts val="400"/>
              </a:spcAft>
            </a:pPr>
            <a:r>
              <a:rPr sz="1150" b="0" i="0">
                <a:solidFill>
                  <a:srgbClr val="F2EEE3"/>
                </a:solidFill>
                <a:latin typeface="Calibri"/>
              </a:rPr>
              <a:t>partie solo contre 5 bots : ils jouent, votent et discutent (IA Gemini)</a:t>
            </a:r>
          </a:p>
        </p:txBody>
      </p:sp>
      <p:sp>
        <p:nvSpPr>
          <p:cNvPr id="20" name="Rounded Rectangle 19"/>
          <p:cNvSpPr/>
          <p:nvPr/>
        </p:nvSpPr>
        <p:spPr>
          <a:xfrm>
            <a:off x="9052560" y="1554480"/>
            <a:ext cx="2606040" cy="4617720"/>
          </a:xfrm>
          <a:prstGeom prst="roundRect">
            <a:avLst>
              <a:gd name="adj" fmla="val 7000"/>
            </a:avLst>
          </a:prstGeom>
          <a:solidFill>
            <a:srgbClr val="2D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81160" y="1783080"/>
            <a:ext cx="2194560" cy="4206240"/>
          </a:xfrm>
          <a:prstGeom prst="rect">
            <a:avLst/>
          </a:prstGeom>
          <a:noFill/>
        </p:spPr>
        <p:txBody>
          <a:bodyPr wrap="square" anchor="t" lIns="0" rIns="0" tIns="0" bIns="0">
            <a:spAutoFit/>
          </a:bodyPr>
          <a:lstStyle/>
          <a:p>
            <a:pPr algn="l">
              <a:spcAft>
                <a:spcPts val="400"/>
              </a:spcAft>
            </a:pPr>
            <a:r>
              <a:rPr sz="1500" b="1" i="0">
                <a:solidFill>
                  <a:srgbClr val="E8B44C"/>
                </a:solidFill>
                <a:latin typeface="Cambria"/>
              </a:rPr>
              <a:t>À observer</a:t>
            </a:r>
          </a:p>
          <a:p>
            <a:pPr algn="l">
              <a:spcAft>
                <a:spcPts val="400"/>
              </a:spcAft>
            </a:pPr>
            <a:r>
              <a:rPr sz="400" b="0" i="0">
                <a:solidFill>
                  <a:srgbClr val="F2EEE3"/>
                </a:solidFill>
                <a:latin typeface="Calibri"/>
              </a:rPr>
              <a:t/>
            </a:r>
          </a:p>
          <a:p>
            <a:pPr algn="l">
              <a:spcAft>
                <a:spcPts val="400"/>
              </a:spcAft>
            </a:pPr>
            <a:r>
              <a:rPr sz="1200" b="0" i="0">
                <a:solidFill>
                  <a:srgbClr val="F2EEE3"/>
                </a:solidFill>
                <a:latin typeface="Calibri"/>
              </a:rPr>
              <a:t>•  TreeView des joueurs</a:t>
            </a:r>
          </a:p>
          <a:p>
            <a:pPr algn="l">
              <a:spcAft>
                <a:spcPts val="400"/>
              </a:spcAft>
            </a:pPr>
            <a:r>
              <a:rPr sz="1200" b="0" i="0">
                <a:solidFill>
                  <a:srgbClr val="F2EEE3"/>
                </a:solidFill>
                <a:latin typeface="Calibri"/>
              </a:rPr>
              <a:t>•  Panneau d'action par rôle</a:t>
            </a:r>
          </a:p>
          <a:p>
            <a:pPr algn="l">
              <a:spcAft>
                <a:spcPts val="400"/>
              </a:spcAft>
            </a:pPr>
            <a:r>
              <a:rPr sz="1200" b="0" i="0">
                <a:solidFill>
                  <a:srgbClr val="F2EEE3"/>
                </a:solidFill>
                <a:latin typeface="Calibri"/>
              </a:rPr>
              <a:t>•  Animations jour/nuit</a:t>
            </a:r>
          </a:p>
          <a:p>
            <a:pPr algn="l">
              <a:spcAft>
                <a:spcPts val="400"/>
              </a:spcAft>
            </a:pPr>
            <a:r>
              <a:rPr sz="1200" b="0" i="0">
                <a:solidFill>
                  <a:srgbClr val="F2EEE3"/>
                </a:solidFill>
                <a:latin typeface="Calibri"/>
              </a:rPr>
              <a:t>•  Sons synthétisés</a:t>
            </a:r>
          </a:p>
          <a:p>
            <a:pPr algn="l">
              <a:spcAft>
                <a:spcPts val="400"/>
              </a:spcAft>
            </a:pPr>
            <a:r>
              <a:rPr sz="1200" b="0" i="0">
                <a:solidFill>
                  <a:srgbClr val="F2EEE3"/>
                </a:solidFill>
                <a:latin typeface="Calibri"/>
              </a:rPr>
              <a:t>•  Chat loups 🐺 vs village</a:t>
            </a:r>
          </a:p>
          <a:p>
            <a:pPr algn="l">
              <a:spcAft>
                <a:spcPts val="400"/>
              </a:spcAft>
            </a:pPr>
            <a:r>
              <a:rPr sz="1200" b="0" i="0">
                <a:solidFill>
                  <a:srgbClr val="F2EEE3"/>
                </a:solidFill>
                <a:latin typeface="Calibri"/>
              </a:rPr>
              <a:t>•  Fin de partie : rôles + ELO</a:t>
            </a:r>
          </a:p>
        </p:txBody>
      </p:sp>
      <p:sp>
        <p:nvSpPr>
          <p:cNvPr id="22" name="TextBox 21"/>
          <p:cNvSpPr txBox="1"/>
          <p:nvPr/>
        </p:nvSpPr>
        <p:spPr>
          <a:xfrm>
            <a:off x="11475720" y="6473952"/>
            <a:ext cx="548640" cy="274320"/>
          </a:xfrm>
          <a:prstGeom prst="rect">
            <a:avLst/>
          </a:prstGeom>
          <a:noFill/>
        </p:spPr>
        <p:txBody>
          <a:bodyPr wrap="square" anchor="t" lIns="0" rIns="0" tIns="0" bIns="0">
            <a:spAutoFit/>
          </a:bodyPr>
          <a:lstStyle/>
          <a:p>
            <a:pPr algn="r">
              <a:spcAft>
                <a:spcPts val="400"/>
              </a:spcAft>
            </a:pPr>
            <a:r>
              <a:rPr sz="1000" b="0" i="0">
                <a:solidFill>
                  <a:srgbClr val="ABA4C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1430"/>
        </a:solidFill>
        <a:effectLst/>
      </p:bgPr>
    </p:bg>
    <p:spTree>
      <p:nvGrpSpPr>
        <p:cNvPr id="1" name=""/>
        <p:cNvGrpSpPr/>
        <p:nvPr/>
      </p:nvGrpSpPr>
      <p:grpSpPr/>
      <p:pic>
        <p:nvPicPr>
          <p:cNvPr id="2" name="Picture 1" descr="end_bg.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10515600" cy="640080"/>
          </a:xfrm>
          <a:prstGeom prst="rect">
            <a:avLst/>
          </a:prstGeom>
          <a:noFill/>
        </p:spPr>
        <p:txBody>
          <a:bodyPr wrap="square" anchor="t" lIns="0" rIns="0" tIns="0" bIns="0">
            <a:spAutoFit/>
          </a:bodyPr>
          <a:lstStyle/>
          <a:p>
            <a:pPr algn="l">
              <a:spcAft>
                <a:spcPts val="400"/>
              </a:spcAft>
            </a:pPr>
            <a:r>
              <a:rPr sz="3000" b="1" i="0">
                <a:solidFill>
                  <a:srgbClr val="E8B44C"/>
                </a:solidFill>
                <a:latin typeface="Cambria"/>
              </a:rPr>
              <a:t>Limites assumées &amp; suite</a:t>
            </a:r>
          </a:p>
        </p:txBody>
      </p:sp>
      <p:sp>
        <p:nvSpPr>
          <p:cNvPr id="4" name="Rounded Rectangle 3"/>
          <p:cNvSpPr/>
          <p:nvPr/>
        </p:nvSpPr>
        <p:spPr>
          <a:xfrm>
            <a:off x="822960" y="1463040"/>
            <a:ext cx="5212080" cy="329184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664208"/>
            <a:ext cx="4754880" cy="2926080"/>
          </a:xfrm>
          <a:prstGeom prst="rect">
            <a:avLst/>
          </a:prstGeom>
          <a:noFill/>
        </p:spPr>
        <p:txBody>
          <a:bodyPr wrap="square" anchor="t" lIns="0" rIns="0" tIns="0" bIns="0">
            <a:spAutoFit/>
          </a:bodyPr>
          <a:lstStyle/>
          <a:p>
            <a:pPr algn="l">
              <a:spcAft>
                <a:spcPts val="400"/>
              </a:spcAft>
            </a:pPr>
            <a:r>
              <a:rPr sz="1500" b="1" i="0">
                <a:solidFill>
                  <a:srgbClr val="F2EEE3"/>
                </a:solidFill>
                <a:latin typeface="Cambria"/>
              </a:rPr>
              <a:t>Proof of concept, assumé</a:t>
            </a:r>
          </a:p>
          <a:p>
            <a:pPr algn="l">
              <a:spcAft>
                <a:spcPts val="400"/>
              </a:spcAft>
            </a:pPr>
            <a:r>
              <a:rPr sz="1250" b="0" i="0">
                <a:solidFill>
                  <a:srgbClr val="F2EEE3"/>
                </a:solidFill>
                <a:latin typeface="Calibri"/>
              </a:rPr>
              <a:t>•  Token statique en BDD (pas de TTL / refresh)</a:t>
            </a:r>
          </a:p>
          <a:p>
            <a:pPr algn="l">
              <a:spcAft>
                <a:spcPts val="400"/>
              </a:spcAft>
            </a:pPr>
            <a:r>
              <a:rPr sz="1250" b="0" i="0">
                <a:solidFill>
                  <a:srgbClr val="F2EEE3"/>
                </a:solidFill>
                <a:latin typeface="Calibri"/>
              </a:rPr>
              <a:t>•  Polling 2 s plutôt que WebSocket</a:t>
            </a:r>
          </a:p>
          <a:p>
            <a:pPr algn="l">
              <a:spcAft>
                <a:spcPts val="400"/>
              </a:spcAft>
            </a:pPr>
            <a:r>
              <a:rPr sz="1250" b="0" i="0">
                <a:solidFill>
                  <a:srgbClr val="F2EEE3"/>
                </a:solidFill>
                <a:latin typeface="Calibri"/>
              </a:rPr>
              <a:t>•  Capitaine tiré au sort (pas d'élection)</a:t>
            </a:r>
          </a:p>
          <a:p>
            <a:pPr algn="l">
              <a:spcAft>
                <a:spcPts val="400"/>
              </a:spcAft>
            </a:pPr>
            <a:r>
              <a:rPr sz="1250" b="0" i="0">
                <a:solidFill>
                  <a:srgbClr val="F2EEE3"/>
                </a:solidFill>
                <a:latin typeface="Calibri"/>
              </a:rPr>
              <a:t>•  Pas encore de Cupidon ni de Voleur</a:t>
            </a:r>
          </a:p>
        </p:txBody>
      </p:sp>
      <p:sp>
        <p:nvSpPr>
          <p:cNvPr id="6" name="Rounded Rectangle 5"/>
          <p:cNvSpPr/>
          <p:nvPr/>
        </p:nvSpPr>
        <p:spPr>
          <a:xfrm>
            <a:off x="6263640" y="1463040"/>
            <a:ext cx="5212080" cy="3291840"/>
          </a:xfrm>
          <a:prstGeom prst="roundRect">
            <a:avLst>
              <a:gd name="adj" fmla="val 7000"/>
            </a:avLst>
          </a:prstGeom>
          <a:solidFill>
            <a:srgbClr val="242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64208"/>
            <a:ext cx="4754880" cy="2926080"/>
          </a:xfrm>
          <a:prstGeom prst="rect">
            <a:avLst/>
          </a:prstGeom>
          <a:noFill/>
        </p:spPr>
        <p:txBody>
          <a:bodyPr wrap="square" anchor="t" lIns="0" rIns="0" tIns="0" bIns="0">
            <a:spAutoFit/>
          </a:bodyPr>
          <a:lstStyle/>
          <a:p>
            <a:pPr algn="l">
              <a:spcAft>
                <a:spcPts val="400"/>
              </a:spcAft>
            </a:pPr>
            <a:r>
              <a:rPr sz="1500" b="1" i="0">
                <a:solidFill>
                  <a:srgbClr val="F2EEE3"/>
                </a:solidFill>
                <a:latin typeface="Cambria"/>
              </a:rPr>
              <a:t>La suite</a:t>
            </a:r>
          </a:p>
          <a:p>
            <a:pPr algn="l">
              <a:spcAft>
                <a:spcPts val="400"/>
              </a:spcAft>
            </a:pPr>
            <a:r>
              <a:rPr sz="1250" b="0" i="0">
                <a:solidFill>
                  <a:srgbClr val="F2EEE3"/>
                </a:solidFill>
                <a:latin typeface="Calibri"/>
              </a:rPr>
              <a:t>•  Réécriture du backend en Spring Boot — le contrat JSON est déjà en place, le client ne change pas</a:t>
            </a:r>
          </a:p>
          <a:p>
            <a:pPr algn="l">
              <a:spcAft>
                <a:spcPts val="400"/>
              </a:spcAft>
            </a:pPr>
            <a:r>
              <a:rPr sz="1250" b="0" i="0">
                <a:solidFill>
                  <a:srgbClr val="F2EEE3"/>
                </a:solidFill>
                <a:latin typeface="Calibri"/>
              </a:rPr>
              <a:t>•  Interface d'administration (joueurs, modération, stats)</a:t>
            </a:r>
          </a:p>
          <a:p>
            <a:pPr algn="l">
              <a:spcAft>
                <a:spcPts val="400"/>
              </a:spcAft>
            </a:pPr>
            <a:r>
              <a:rPr sz="1250" b="0" i="0">
                <a:solidFill>
                  <a:srgbClr val="F2EEE3"/>
                </a:solidFill>
                <a:latin typeface="Calibri"/>
              </a:rPr>
              <a:t>•  WebSocket pour le temps réel à plus grande échelle</a:t>
            </a:r>
          </a:p>
        </p:txBody>
      </p:sp>
      <p:sp>
        <p:nvSpPr>
          <p:cNvPr id="8" name="TextBox 7"/>
          <p:cNvSpPr txBox="1"/>
          <p:nvPr/>
        </p:nvSpPr>
        <p:spPr>
          <a:xfrm>
            <a:off x="822960" y="5257800"/>
            <a:ext cx="10515600" cy="914400"/>
          </a:xfrm>
          <a:prstGeom prst="rect">
            <a:avLst/>
          </a:prstGeom>
          <a:noFill/>
        </p:spPr>
        <p:txBody>
          <a:bodyPr wrap="square" anchor="t" lIns="0" rIns="0" tIns="0" bIns="0">
            <a:spAutoFit/>
          </a:bodyPr>
          <a:lstStyle/>
          <a:p>
            <a:pPr algn="ctr">
              <a:spcAft>
                <a:spcPts val="400"/>
              </a:spcAft>
            </a:pPr>
            <a:r>
              <a:rPr sz="3000" b="1" i="0">
                <a:solidFill>
                  <a:srgbClr val="F2EEE3"/>
                </a:solidFill>
                <a:latin typeface="Cambria"/>
              </a:rPr>
              <a:t>Merci — place à la démo 🌕</a:t>
            </a:r>
          </a:p>
        </p:txBody>
      </p:sp>
      <p:sp>
        <p:nvSpPr>
          <p:cNvPr id="9" name="TextBox 8"/>
          <p:cNvSpPr txBox="1"/>
          <p:nvPr/>
        </p:nvSpPr>
        <p:spPr>
          <a:xfrm>
            <a:off x="822960" y="6172200"/>
            <a:ext cx="10515600" cy="365760"/>
          </a:xfrm>
          <a:prstGeom prst="rect">
            <a:avLst/>
          </a:prstGeom>
          <a:noFill/>
        </p:spPr>
        <p:txBody>
          <a:bodyPr wrap="square" anchor="t" lIns="0" rIns="0" tIns="0" bIns="0">
            <a:spAutoFit/>
          </a:bodyPr>
          <a:lstStyle/>
          <a:p>
            <a:pPr algn="ctr">
              <a:spcAft>
                <a:spcPts val="400"/>
              </a:spcAft>
            </a:pPr>
            <a:r>
              <a:rPr sz="1200" b="0" i="0">
                <a:solidFill>
                  <a:srgbClr val="ABA4C8"/>
                </a:solidFill>
                <a:latin typeface="Calibri"/>
              </a:rPr>
              <a:t>github.com/arcreane/Projet-Loup-Garou_amaury-guindon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